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Nirmala UI Bold" charset="1" panose="020B0802040204020203"/>
      <p:regular r:id="rId19"/>
    </p:embeddedFont>
    <p:embeddedFont>
      <p:font typeface="Calibri (MS) Bold" charset="1" panose="020F0702030404030204"/>
      <p:regular r:id="rId20"/>
    </p:embeddedFont>
    <p:embeddedFont>
      <p:font typeface="Georgia Bold" charset="1" panose="02040802050405020203"/>
      <p:regular r:id="rId21"/>
    </p:embeddedFont>
    <p:embeddedFont>
      <p:font typeface="Calibri (MS)" charset="1" panose="020F0502020204030204"/>
      <p:regular r:id="rId22"/>
    </p:embeddedFont>
    <p:embeddedFont>
      <p:font typeface="Calibri (MS) Italics" charset="1" panose="020F05020202040A0204"/>
      <p:regular r:id="rId23"/>
    </p:embeddedFont>
    <p:embeddedFont>
      <p:font typeface="IBM Plex Mono Bold" charset="1" panose="020B0809050203000203"/>
      <p:regular r:id="rId24"/>
    </p:embeddedFont>
    <p:embeddedFont>
      <p:font typeface="Inter" charset="1" panose="02000503000000020004"/>
      <p:regular r:id="rId25"/>
    </p:embeddedFont>
    <p:embeddedFont>
      <p:font typeface="Inter Bold" charset="1" panose="02000503000000020004"/>
      <p:regular r:id="rId27"/>
    </p:embeddedFont>
    <p:embeddedFont>
      <p:font typeface="IBM Plex Mono" charset="1" panose="020B0509050203000203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notesSlides/notesSlide2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6.xml" Type="http://schemas.openxmlformats.org/officeDocument/2006/relationships/notesSlide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>QORVEX: an educational BB84 key distribution simulation. Theoretical expected QBER is not a recorded experimental result. Any blank team fields must be completed before submission.</a:t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pn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14" Target="../media/image12.png" Type="http://schemas.openxmlformats.org/officeDocument/2006/relationships/image"/><Relationship Id="rId15" Target="../media/image13.svg" Type="http://schemas.openxmlformats.org/officeDocument/2006/relationships/image"/><Relationship Id="rId16" Target="../media/image14.png" Type="http://schemas.openxmlformats.org/officeDocument/2006/relationships/image"/><Relationship Id="rId17" Target="../media/image15.svg" Type="http://schemas.openxmlformats.org/officeDocument/2006/relationships/image"/><Relationship Id="rId18" Target="../media/image16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13" Target="../media/image21.png" Type="http://schemas.openxmlformats.org/officeDocument/2006/relationships/image"/><Relationship Id="rId14" Target="../media/image22.svg" Type="http://schemas.openxmlformats.org/officeDocument/2006/relationships/image"/><Relationship Id="rId15" Target="../media/image23.pn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17.png" Type="http://schemas.openxmlformats.org/officeDocument/2006/relationships/image"/><Relationship Id="rId12" Target="../media/image18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6.png" Type="http://schemas.openxmlformats.org/officeDocument/2006/relationships/image"/><Relationship Id="rId9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png" Type="http://schemas.openxmlformats.org/officeDocument/2006/relationships/image"/><Relationship Id="rId12" Target="../media/image8.png" Type="http://schemas.openxmlformats.org/officeDocument/2006/relationships/image"/><Relationship Id="rId13" Target="../media/image9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Relationship Id="rId5" Target="../media/image3.jpe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Relationship Id="rId8" Target="../media/image12.png" Type="http://schemas.openxmlformats.org/officeDocument/2006/relationships/image"/><Relationship Id="rId9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14400" y="1752600"/>
            <a:ext cx="65836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600">
                <a:solidFill>
                  <a:srgbClr val="E8639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PARTICIPANT PRESENTATION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4400" y="2430780"/>
            <a:ext cx="6766560" cy="3329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2E1B5B"/>
                </a:solidFill>
                <a:latin typeface="Georgia Bold"/>
                <a:ea typeface="Georgia Bold"/>
                <a:cs typeface="Georgia Bold"/>
                <a:sym typeface="Georgia Bold"/>
              </a:rPr>
              <a:t>Qiskit</a:t>
            </a:r>
          </a:p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E8639F"/>
                </a:solidFill>
                <a:latin typeface="Georgia Bold"/>
                <a:ea typeface="Georgia Bold"/>
                <a:cs typeface="Georgia Bold"/>
                <a:sym typeface="Georgia Bold"/>
              </a:rPr>
              <a:t>Fall Fest</a:t>
            </a:r>
          </a:p>
          <a:p>
            <a:pPr algn="l">
              <a:lnSpc>
                <a:spcPts val="9119"/>
              </a:lnSpc>
            </a:pPr>
            <a:r>
              <a:rPr lang="en-US" sz="7598" b="true">
                <a:solidFill>
                  <a:srgbClr val="2E1B5B"/>
                </a:solidFill>
                <a:latin typeface="Georgia Bold"/>
                <a:ea typeface="Georgia Bold"/>
                <a:cs typeface="Georgia Bold"/>
                <a:sym typeface="Georgia Bold"/>
              </a:rPr>
              <a:t>2026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14400" y="5920740"/>
            <a:ext cx="658368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4A4380"/>
                </a:solidFill>
                <a:latin typeface="Calibri (MS)"/>
                <a:ea typeface="Calibri (MS)"/>
                <a:cs typeface="Calibri (MS)"/>
                <a:sym typeface="Calibri (MS)"/>
              </a:rPr>
              <a:t>Hackathon · Team Details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14400" y="6583680"/>
            <a:ext cx="2743200" cy="2743200"/>
            <a:chOff x="0" y="0"/>
            <a:chExt cx="3657600" cy="3657600"/>
          </a:xfrm>
        </p:grpSpPr>
        <p:sp>
          <p:nvSpPr>
            <p:cNvPr name="Freeform 54" id="54" descr="sphere.png"/>
            <p:cNvSpPr/>
            <p:nvPr/>
          </p:nvSpPr>
          <p:spPr>
            <a:xfrm flipH="false" flipV="false" rot="0">
              <a:off x="0" y="0"/>
              <a:ext cx="3657600" cy="3657600"/>
            </a:xfrm>
            <a:custGeom>
              <a:avLst/>
              <a:gdLst/>
              <a:ahLst/>
              <a:cxnLst/>
              <a:rect r="r" b="b" t="t" l="l"/>
              <a:pathLst>
                <a:path h="36576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657600"/>
                  </a:lnTo>
                  <a:lnTo>
                    <a:pt x="0" y="3657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297680" y="6858000"/>
            <a:ext cx="1463040" cy="877824"/>
            <a:chOff x="0" y="0"/>
            <a:chExt cx="1950720" cy="1170432"/>
          </a:xfrm>
        </p:grpSpPr>
        <p:sp>
          <p:nvSpPr>
            <p:cNvPr name="Freeform 56" id="56" descr="bird1.png"/>
            <p:cNvSpPr/>
            <p:nvPr/>
          </p:nvSpPr>
          <p:spPr>
            <a:xfrm flipH="false" flipV="false" rot="0">
              <a:off x="0" y="0"/>
              <a:ext cx="1950720" cy="1170432"/>
            </a:xfrm>
            <a:custGeom>
              <a:avLst/>
              <a:gdLst/>
              <a:ahLst/>
              <a:cxnLst/>
              <a:rect r="r" b="b" t="t" l="l"/>
              <a:pathLst>
                <a:path h="1170432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170432"/>
                  </a:lnTo>
                  <a:lnTo>
                    <a:pt x="0" y="1170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5760720" y="7955280"/>
            <a:ext cx="1005840" cy="603504"/>
            <a:chOff x="0" y="0"/>
            <a:chExt cx="1341120" cy="804672"/>
          </a:xfrm>
        </p:grpSpPr>
        <p:sp>
          <p:nvSpPr>
            <p:cNvPr name="Freeform 58" id="58" descr="bird2.png"/>
            <p:cNvSpPr/>
            <p:nvPr/>
          </p:nvSpPr>
          <p:spPr>
            <a:xfrm flipH="false" flipV="false" rot="0">
              <a:off x="0" y="0"/>
              <a:ext cx="1341120" cy="804672"/>
            </a:xfrm>
            <a:custGeom>
              <a:avLst/>
              <a:gdLst/>
              <a:ahLst/>
              <a:cxnLst/>
              <a:rect r="r" b="b" t="t" l="l"/>
              <a:pathLst>
                <a:path h="804672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804672"/>
                  </a:lnTo>
                  <a:lnTo>
                    <a:pt x="0" y="804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4663440" y="8595360"/>
            <a:ext cx="768096" cy="457200"/>
            <a:chOff x="0" y="0"/>
            <a:chExt cx="1024128" cy="609600"/>
          </a:xfrm>
        </p:grpSpPr>
        <p:sp>
          <p:nvSpPr>
            <p:cNvPr name="Freeform 60" id="60" descr="bird3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400" r="0" b="-400"/>
              </a:stretch>
            </a:blipFill>
          </p:spPr>
        </p:sp>
      </p:grpSp>
      <p:sp>
        <p:nvSpPr>
          <p:cNvPr name="TextBox 61" id="61"/>
          <p:cNvSpPr txBox="true"/>
          <p:nvPr/>
        </p:nvSpPr>
        <p:spPr>
          <a:xfrm rot="0">
            <a:off x="8046720" y="1682496"/>
            <a:ext cx="9326880" cy="640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1B5B"/>
                </a:solidFill>
                <a:latin typeface="Georgia Bold"/>
                <a:ea typeface="Georgia Bold"/>
                <a:cs typeface="Georgia Bold"/>
                <a:sym typeface="Georgia Bold"/>
              </a:rPr>
              <a:t>Participant Details</a:t>
            </a:r>
          </a:p>
        </p:txBody>
      </p:sp>
      <p:sp>
        <p:nvSpPr>
          <p:cNvPr name="Freeform 62" id="62"/>
          <p:cNvSpPr/>
          <p:nvPr/>
        </p:nvSpPr>
        <p:spPr>
          <a:xfrm flipH="false" flipV="false" rot="0">
            <a:off x="8030051" y="2507075"/>
            <a:ext cx="9360218" cy="1094137"/>
          </a:xfrm>
          <a:custGeom>
            <a:avLst/>
            <a:gdLst/>
            <a:ahLst/>
            <a:cxnLst/>
            <a:rect r="r" b="b" t="t" l="l"/>
            <a:pathLst>
              <a:path h="1094137" w="9360218">
                <a:moveTo>
                  <a:pt x="0" y="0"/>
                </a:moveTo>
                <a:lnTo>
                  <a:pt x="9360218" y="0"/>
                </a:lnTo>
                <a:lnTo>
                  <a:pt x="936021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3" id="63"/>
          <p:cNvSpPr txBox="true"/>
          <p:nvPr/>
        </p:nvSpPr>
        <p:spPr>
          <a:xfrm rot="0">
            <a:off x="8087992" y="2498341"/>
            <a:ext cx="924432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TITLE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Enter your project title</a:t>
            </a:r>
          </a:p>
        </p:txBody>
      </p:sp>
      <p:sp>
        <p:nvSpPr>
          <p:cNvPr name="Freeform 64" id="64"/>
          <p:cNvSpPr/>
          <p:nvPr/>
        </p:nvSpPr>
        <p:spPr>
          <a:xfrm flipH="false" flipV="false" rot="0">
            <a:off x="8030051" y="3714083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5" id="65"/>
          <p:cNvSpPr txBox="true"/>
          <p:nvPr/>
        </p:nvSpPr>
        <p:spPr>
          <a:xfrm rot="0">
            <a:off x="8087992" y="3705349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TRACK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Select your track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12784931" y="3714083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12842872" y="3705349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Enter team name</a:t>
            </a:r>
          </a:p>
        </p:txBody>
      </p:sp>
      <p:sp>
        <p:nvSpPr>
          <p:cNvPr name="Freeform 68" id="68"/>
          <p:cNvSpPr/>
          <p:nvPr/>
        </p:nvSpPr>
        <p:spPr>
          <a:xfrm flipH="false" flipV="false" rot="0">
            <a:off x="8030051" y="4921091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9" id="69"/>
          <p:cNvSpPr txBox="true"/>
          <p:nvPr/>
        </p:nvSpPr>
        <p:spPr>
          <a:xfrm rot="0">
            <a:off x="8087992" y="4912357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LEADER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Name</a:t>
            </a:r>
          </a:p>
        </p:txBody>
      </p:sp>
      <p:sp>
        <p:nvSpPr>
          <p:cNvPr name="Freeform 70" id="70"/>
          <p:cNvSpPr/>
          <p:nvPr/>
        </p:nvSpPr>
        <p:spPr>
          <a:xfrm flipH="false" flipV="false" rot="0">
            <a:off x="12784931" y="4921091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1" id="71"/>
          <p:cNvSpPr txBox="true"/>
          <p:nvPr/>
        </p:nvSpPr>
        <p:spPr>
          <a:xfrm rot="0">
            <a:off x="12842872" y="4912357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EMAIL / CONTACT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email@example.com</a:t>
            </a:r>
          </a:p>
        </p:txBody>
      </p:sp>
      <p:sp>
        <p:nvSpPr>
          <p:cNvPr name="Freeform 72" id="72"/>
          <p:cNvSpPr/>
          <p:nvPr/>
        </p:nvSpPr>
        <p:spPr>
          <a:xfrm flipH="false" flipV="false" rot="0">
            <a:off x="8030051" y="6128099"/>
            <a:ext cx="9360218" cy="1587817"/>
          </a:xfrm>
          <a:custGeom>
            <a:avLst/>
            <a:gdLst/>
            <a:ahLst/>
            <a:cxnLst/>
            <a:rect r="r" b="b" t="t" l="l"/>
            <a:pathLst>
              <a:path h="1587817" w="9360218">
                <a:moveTo>
                  <a:pt x="0" y="0"/>
                </a:moveTo>
                <a:lnTo>
                  <a:pt x="9360218" y="0"/>
                </a:lnTo>
                <a:lnTo>
                  <a:pt x="9360218" y="1587818"/>
                </a:lnTo>
                <a:lnTo>
                  <a:pt x="0" y="158781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3" id="73"/>
          <p:cNvSpPr txBox="true"/>
          <p:nvPr/>
        </p:nvSpPr>
        <p:spPr>
          <a:xfrm rot="0">
            <a:off x="8087992" y="6119365"/>
            <a:ext cx="9244327" cy="1538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MEMBERS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Member 1  ·  Member 2  ·  Member 3</a:t>
            </a:r>
          </a:p>
        </p:txBody>
      </p:sp>
      <p:sp>
        <p:nvSpPr>
          <p:cNvPr name="Freeform 74" id="74"/>
          <p:cNvSpPr/>
          <p:nvPr/>
        </p:nvSpPr>
        <p:spPr>
          <a:xfrm flipH="false" flipV="false" rot="0">
            <a:off x="8030051" y="7828883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5" id="75"/>
          <p:cNvSpPr txBox="true"/>
          <p:nvPr/>
        </p:nvSpPr>
        <p:spPr>
          <a:xfrm rot="0">
            <a:off x="8087992" y="7820149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INSTITUTION / ORGANISATION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College or company</a:t>
            </a:r>
          </a:p>
        </p:txBody>
      </p:sp>
      <p:sp>
        <p:nvSpPr>
          <p:cNvPr name="Freeform 76" id="76"/>
          <p:cNvSpPr/>
          <p:nvPr/>
        </p:nvSpPr>
        <p:spPr>
          <a:xfrm flipH="false" flipV="false" rot="0">
            <a:off x="12784931" y="7828883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2842872" y="7820149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COUNTRY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Country</a:t>
            </a:r>
          </a:p>
        </p:txBody>
      </p:sp>
      <p:grpSp>
        <p:nvGrpSpPr>
          <p:cNvPr name="Group 78" id="78"/>
          <p:cNvGrpSpPr/>
          <p:nvPr/>
        </p:nvGrpSpPr>
        <p:grpSpPr>
          <a:xfrm rot="0">
            <a:off x="8074152" y="2450592"/>
            <a:ext cx="9235440" cy="6720840"/>
            <a:chOff x="0" y="0"/>
            <a:chExt cx="12313920" cy="89611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2313920" cy="8961120"/>
            </a:xfrm>
            <a:custGeom>
              <a:avLst/>
              <a:gdLst/>
              <a:ahLst/>
              <a:cxnLst/>
              <a:rect r="r" b="b" t="t" l="l"/>
              <a:pathLst>
                <a:path h="8961120" w="12313920">
                  <a:moveTo>
                    <a:pt x="0" y="0"/>
                  </a:moveTo>
                  <a:lnTo>
                    <a:pt x="12313920" y="0"/>
                  </a:lnTo>
                  <a:lnTo>
                    <a:pt x="12313920" y="8961120"/>
                  </a:lnTo>
                  <a:lnTo>
                    <a:pt x="0" y="896112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321040" y="2651760"/>
            <a:ext cx="5760720" cy="1485342"/>
            <a:chOff x="0" y="0"/>
            <a:chExt cx="6096000" cy="1571790"/>
          </a:xfrm>
        </p:grpSpPr>
        <p:sp>
          <p:nvSpPr>
            <p:cNvPr name="Freeform 81" id="81" descr="_qorvex_logo.png"/>
            <p:cNvSpPr/>
            <p:nvPr/>
          </p:nvSpPr>
          <p:spPr>
            <a:xfrm flipH="false" flipV="false" rot="0">
              <a:off x="0" y="0"/>
              <a:ext cx="6096000" cy="1571752"/>
            </a:xfrm>
            <a:custGeom>
              <a:avLst/>
              <a:gdLst/>
              <a:ahLst/>
              <a:cxnLst/>
              <a:rect r="r" b="b" t="t" l="l"/>
              <a:pathLst>
                <a:path h="157175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1571752"/>
                  </a:lnTo>
                  <a:lnTo>
                    <a:pt x="0" y="1571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-2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321040" y="4370832"/>
            <a:ext cx="8503920" cy="54864"/>
            <a:chOff x="0" y="0"/>
            <a:chExt cx="11338560" cy="73152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338560" cy="73152"/>
            </a:xfrm>
            <a:custGeom>
              <a:avLst/>
              <a:gdLst/>
              <a:ahLst/>
              <a:cxnLst/>
              <a:rect r="r" b="b" t="t" l="l"/>
              <a:pathLst>
                <a:path h="73152" w="11338560">
                  <a:moveTo>
                    <a:pt x="0" y="0"/>
                  </a:moveTo>
                  <a:lnTo>
                    <a:pt x="11338560" y="0"/>
                  </a:lnTo>
                  <a:lnTo>
                    <a:pt x="11338560" y="73152"/>
                  </a:lnTo>
                  <a:lnTo>
                    <a:pt x="0" y="73152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4" id="84"/>
          <p:cNvSpPr txBox="true"/>
          <p:nvPr/>
        </p:nvSpPr>
        <p:spPr>
          <a:xfrm rot="0">
            <a:off x="8449056" y="4654296"/>
            <a:ext cx="263347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PROJECT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1228832" y="4617720"/>
            <a:ext cx="5559552" cy="393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BB84 &amp; QBER-Based Interception Detection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8449056" y="5358384"/>
            <a:ext cx="263347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TRACK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228832" y="5312283"/>
            <a:ext cx="55595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Quantum Communication &amp; Networking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8449056" y="6062472"/>
            <a:ext cx="263347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TEAM NAME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228832" y="6016371"/>
            <a:ext cx="5559552" cy="402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QORVEX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8449056" y="6766560"/>
            <a:ext cx="263347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TEAM LEADER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228832" y="6720459"/>
            <a:ext cx="55595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Sneha Kapilavayi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8449056" y="7470648"/>
            <a:ext cx="263347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INSTITUTION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228832" y="7424547"/>
            <a:ext cx="55595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Vishnu Institute of Technology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8449056" y="8174736"/>
            <a:ext cx="263347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39"/>
              </a:lnSpc>
            </a:pPr>
            <a:r>
              <a:rPr lang="en-US" sz="12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TEAM MEMBERS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228832" y="8128635"/>
            <a:ext cx="555955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NA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1" id="51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3" id="53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5" id="55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Statement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897731" y="3366611"/>
            <a:ext cx="16492538" cy="5885497"/>
          </a:xfrm>
          <a:custGeom>
            <a:avLst/>
            <a:gdLst/>
            <a:ahLst/>
            <a:cxnLst/>
            <a:rect r="r" b="b" t="t" l="l"/>
            <a:pathLst>
              <a:path h="5885497" w="16492538">
                <a:moveTo>
                  <a:pt x="0" y="0"/>
                </a:moveTo>
                <a:lnTo>
                  <a:pt x="16492538" y="0"/>
                </a:lnTo>
                <a:lnTo>
                  <a:pt x="1649253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892178" y="3382680"/>
            <a:ext cx="1690402" cy="154210"/>
            <a:chOff x="0" y="0"/>
            <a:chExt cx="2253869" cy="2056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40818" y="3717865"/>
            <a:ext cx="15535656" cy="331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67"/>
              </a:lnSpc>
            </a:pPr>
            <a:r>
              <a:rPr lang="en-US" sz="1555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WHY THIS MATTERS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72184" y="4087368"/>
            <a:ext cx="14886432" cy="841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A payment message can look valid while the communication channel is disturbed.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12558" y="5097590"/>
            <a:ext cx="4810125" cy="3255645"/>
            <a:chOff x="0" y="0"/>
            <a:chExt cx="6413500" cy="434086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13500" cy="4340860"/>
            </a:xfrm>
            <a:custGeom>
              <a:avLst/>
              <a:gdLst/>
              <a:ahLst/>
              <a:cxnLst/>
              <a:rect r="r" b="b" t="t" l="l"/>
              <a:pathLst>
                <a:path h="4340860" w="6413500">
                  <a:moveTo>
                    <a:pt x="0" y="723519"/>
                  </a:moveTo>
                  <a:cubicBezTo>
                    <a:pt x="0" y="323977"/>
                    <a:pt x="323977" y="0"/>
                    <a:pt x="723519" y="0"/>
                  </a:cubicBezTo>
                  <a:lnTo>
                    <a:pt x="5689981" y="0"/>
                  </a:lnTo>
                  <a:cubicBezTo>
                    <a:pt x="6089523" y="0"/>
                    <a:pt x="6413500" y="323977"/>
                    <a:pt x="6413500" y="723519"/>
                  </a:cubicBezTo>
                  <a:lnTo>
                    <a:pt x="6413500" y="3617341"/>
                  </a:lnTo>
                  <a:cubicBezTo>
                    <a:pt x="6413500" y="4016883"/>
                    <a:pt x="6089523" y="4340860"/>
                    <a:pt x="5689981" y="4340860"/>
                  </a:cubicBezTo>
                  <a:lnTo>
                    <a:pt x="723519" y="4340860"/>
                  </a:lnTo>
                  <a:cubicBezTo>
                    <a:pt x="323977" y="4340860"/>
                    <a:pt x="0" y="4016883"/>
                    <a:pt x="0" y="361734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417320" y="5102352"/>
            <a:ext cx="54864" cy="3246120"/>
            <a:chOff x="0" y="0"/>
            <a:chExt cx="73152" cy="43281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" cy="4328160"/>
            </a:xfrm>
            <a:custGeom>
              <a:avLst/>
              <a:gdLst/>
              <a:ahLst/>
              <a:cxnLst/>
              <a:rect r="r" b="b" t="t" l="l"/>
              <a:pathLst>
                <a:path h="4328160" w="73152">
                  <a:moveTo>
                    <a:pt x="0" y="0"/>
                  </a:moveTo>
                  <a:lnTo>
                    <a:pt x="73152" y="0"/>
                  </a:lnTo>
                  <a:lnTo>
                    <a:pt x="73152" y="4328160"/>
                  </a:lnTo>
                  <a:lnTo>
                    <a:pt x="0" y="4328160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682496" y="5312664"/>
            <a:ext cx="42793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Interception risk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82496" y="5898261"/>
            <a:ext cx="4745736" cy="2444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6"/>
              </a:lnSpc>
            </a:pPr>
            <a:r>
              <a:rPr lang="en-US" sz="1663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Authentication alone does not expose every attempt to observe or manipulate a communication channel.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396038" y="5097590"/>
            <a:ext cx="4810125" cy="3255645"/>
            <a:chOff x="0" y="0"/>
            <a:chExt cx="6413500" cy="43408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413500" cy="4340860"/>
            </a:xfrm>
            <a:custGeom>
              <a:avLst/>
              <a:gdLst/>
              <a:ahLst/>
              <a:cxnLst/>
              <a:rect r="r" b="b" t="t" l="l"/>
              <a:pathLst>
                <a:path h="4340860" w="6413500">
                  <a:moveTo>
                    <a:pt x="0" y="723519"/>
                  </a:moveTo>
                  <a:cubicBezTo>
                    <a:pt x="0" y="323977"/>
                    <a:pt x="323977" y="0"/>
                    <a:pt x="723519" y="0"/>
                  </a:cubicBezTo>
                  <a:lnTo>
                    <a:pt x="5689981" y="0"/>
                  </a:lnTo>
                  <a:cubicBezTo>
                    <a:pt x="6089523" y="0"/>
                    <a:pt x="6413500" y="323977"/>
                    <a:pt x="6413500" y="723519"/>
                  </a:cubicBezTo>
                  <a:lnTo>
                    <a:pt x="6413500" y="3617341"/>
                  </a:lnTo>
                  <a:cubicBezTo>
                    <a:pt x="6413500" y="4016883"/>
                    <a:pt x="6089523" y="4340860"/>
                    <a:pt x="5689981" y="4340860"/>
                  </a:cubicBezTo>
                  <a:lnTo>
                    <a:pt x="723519" y="4340860"/>
                  </a:lnTo>
                  <a:cubicBezTo>
                    <a:pt x="323977" y="4340860"/>
                    <a:pt x="0" y="4016883"/>
                    <a:pt x="0" y="361734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6400800" y="5102352"/>
            <a:ext cx="54864" cy="3246120"/>
            <a:chOff x="0" y="0"/>
            <a:chExt cx="73152" cy="432816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152" cy="4328160"/>
            </a:xfrm>
            <a:custGeom>
              <a:avLst/>
              <a:gdLst/>
              <a:ahLst/>
              <a:cxnLst/>
              <a:rect r="r" b="b" t="t" l="l"/>
              <a:pathLst>
                <a:path h="4328160" w="73152">
                  <a:moveTo>
                    <a:pt x="0" y="0"/>
                  </a:moveTo>
                  <a:lnTo>
                    <a:pt x="73152" y="0"/>
                  </a:lnTo>
                  <a:lnTo>
                    <a:pt x="73152" y="4328160"/>
                  </a:lnTo>
                  <a:lnTo>
                    <a:pt x="0" y="4328160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6665976" y="5312664"/>
            <a:ext cx="42793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Quantum-era readiness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665976" y="5879211"/>
            <a:ext cx="4540187" cy="235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Quantum computing motivates examination of communication and key-establishment assumptions.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1379518" y="5097590"/>
            <a:ext cx="4810125" cy="3255645"/>
            <a:chOff x="0" y="0"/>
            <a:chExt cx="6413500" cy="434086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413500" cy="4340860"/>
            </a:xfrm>
            <a:custGeom>
              <a:avLst/>
              <a:gdLst/>
              <a:ahLst/>
              <a:cxnLst/>
              <a:rect r="r" b="b" t="t" l="l"/>
              <a:pathLst>
                <a:path h="4340860" w="6413500">
                  <a:moveTo>
                    <a:pt x="0" y="723519"/>
                  </a:moveTo>
                  <a:cubicBezTo>
                    <a:pt x="0" y="323977"/>
                    <a:pt x="323977" y="0"/>
                    <a:pt x="723519" y="0"/>
                  </a:cubicBezTo>
                  <a:lnTo>
                    <a:pt x="5689981" y="0"/>
                  </a:lnTo>
                  <a:cubicBezTo>
                    <a:pt x="6089523" y="0"/>
                    <a:pt x="6413500" y="323977"/>
                    <a:pt x="6413500" y="723519"/>
                  </a:cubicBezTo>
                  <a:lnTo>
                    <a:pt x="6413500" y="3617341"/>
                  </a:lnTo>
                  <a:cubicBezTo>
                    <a:pt x="6413500" y="4016883"/>
                    <a:pt x="6089523" y="4340860"/>
                    <a:pt x="5689981" y="4340860"/>
                  </a:cubicBezTo>
                  <a:lnTo>
                    <a:pt x="723519" y="4340860"/>
                  </a:lnTo>
                  <a:cubicBezTo>
                    <a:pt x="323977" y="4340860"/>
                    <a:pt x="0" y="4016883"/>
                    <a:pt x="0" y="361734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1384280" y="5102352"/>
            <a:ext cx="54864" cy="3246120"/>
            <a:chOff x="0" y="0"/>
            <a:chExt cx="73152" cy="432816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52" cy="4328160"/>
            </a:xfrm>
            <a:custGeom>
              <a:avLst/>
              <a:gdLst/>
              <a:ahLst/>
              <a:cxnLst/>
              <a:rect r="r" b="b" t="t" l="l"/>
              <a:pathLst>
                <a:path h="4328160" w="73152">
                  <a:moveTo>
                    <a:pt x="0" y="0"/>
                  </a:moveTo>
                  <a:lnTo>
                    <a:pt x="73152" y="0"/>
                  </a:lnTo>
                  <a:lnTo>
                    <a:pt x="73152" y="4328160"/>
                  </a:lnTo>
                  <a:lnTo>
                    <a:pt x="0" y="4328160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1649456" y="5312664"/>
            <a:ext cx="42793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Evidence gap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649456" y="5879211"/>
            <a:ext cx="4540187" cy="235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Security education needs a measurable, explainable way to see the effect of interception.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1" id="51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3" id="53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5" id="55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Objectives &amp; Novelty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897731" y="3366611"/>
            <a:ext cx="16492538" cy="5885497"/>
          </a:xfrm>
          <a:custGeom>
            <a:avLst/>
            <a:gdLst/>
            <a:ahLst/>
            <a:cxnLst/>
            <a:rect r="r" b="b" t="t" l="l"/>
            <a:pathLst>
              <a:path h="5885497" w="16492538">
                <a:moveTo>
                  <a:pt x="0" y="0"/>
                </a:moveTo>
                <a:lnTo>
                  <a:pt x="16492538" y="0"/>
                </a:lnTo>
                <a:lnTo>
                  <a:pt x="1649253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349378" y="3361058"/>
            <a:ext cx="1690402" cy="154210"/>
            <a:chOff x="0" y="0"/>
            <a:chExt cx="2253869" cy="2056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72184" y="3593592"/>
            <a:ext cx="14977872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OBJECTIVE  /  WHAT IS NEW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72184" y="4187952"/>
            <a:ext cx="15252192" cy="658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Make the invisible quantum-security process visible, playable and measurable.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12558" y="5097590"/>
            <a:ext cx="4810125" cy="3438525"/>
            <a:chOff x="0" y="0"/>
            <a:chExt cx="6413500" cy="45847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6413500" cy="4584700"/>
            </a:xfrm>
            <a:custGeom>
              <a:avLst/>
              <a:gdLst/>
              <a:ahLst/>
              <a:cxnLst/>
              <a:rect r="r" b="b" t="t" l="l"/>
              <a:pathLst>
                <a:path h="4584700" w="6413500">
                  <a:moveTo>
                    <a:pt x="0" y="764159"/>
                  </a:moveTo>
                  <a:cubicBezTo>
                    <a:pt x="0" y="342138"/>
                    <a:pt x="342138" y="0"/>
                    <a:pt x="764159" y="0"/>
                  </a:cubicBezTo>
                  <a:lnTo>
                    <a:pt x="5649341" y="0"/>
                  </a:lnTo>
                  <a:cubicBezTo>
                    <a:pt x="6071362" y="0"/>
                    <a:pt x="6413500" y="342138"/>
                    <a:pt x="6413500" y="764159"/>
                  </a:cubicBezTo>
                  <a:lnTo>
                    <a:pt x="6413500" y="3820541"/>
                  </a:lnTo>
                  <a:cubicBezTo>
                    <a:pt x="6413500" y="4242562"/>
                    <a:pt x="6071362" y="4584700"/>
                    <a:pt x="5649341" y="4584700"/>
                  </a:cubicBezTo>
                  <a:lnTo>
                    <a:pt x="764159" y="4584700"/>
                  </a:lnTo>
                  <a:cubicBezTo>
                    <a:pt x="342138" y="4584700"/>
                    <a:pt x="0" y="4242562"/>
                    <a:pt x="0" y="382054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417320" y="5102352"/>
            <a:ext cx="54864" cy="3429000"/>
            <a:chOff x="0" y="0"/>
            <a:chExt cx="73152" cy="45720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3152" cy="4572000"/>
            </a:xfrm>
            <a:custGeom>
              <a:avLst/>
              <a:gdLst/>
              <a:ahLst/>
              <a:cxnLst/>
              <a:rect r="r" b="b" t="t" l="l"/>
              <a:pathLst>
                <a:path h="4572000" w="73152">
                  <a:moveTo>
                    <a:pt x="0" y="0"/>
                  </a:moveTo>
                  <a:lnTo>
                    <a:pt x="73152" y="0"/>
                  </a:lnTo>
                  <a:lnTo>
                    <a:pt x="73152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1" id="81"/>
          <p:cNvSpPr txBox="true"/>
          <p:nvPr/>
        </p:nvSpPr>
        <p:spPr>
          <a:xfrm rot="0">
            <a:off x="1682496" y="5312664"/>
            <a:ext cx="42793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01 · Observe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682496" y="5879211"/>
            <a:ext cx="4713542" cy="264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2"/>
              </a:lnSpc>
            </a:pPr>
            <a:r>
              <a:rPr lang="en-US" sz="1652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Watch Alice prepare random states, Eve optionally intercept and Bob measure each photon.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6396038" y="5097590"/>
            <a:ext cx="4810125" cy="3438525"/>
            <a:chOff x="0" y="0"/>
            <a:chExt cx="6413500" cy="45847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413500" cy="4584700"/>
            </a:xfrm>
            <a:custGeom>
              <a:avLst/>
              <a:gdLst/>
              <a:ahLst/>
              <a:cxnLst/>
              <a:rect r="r" b="b" t="t" l="l"/>
              <a:pathLst>
                <a:path h="4584700" w="6413500">
                  <a:moveTo>
                    <a:pt x="0" y="764159"/>
                  </a:moveTo>
                  <a:cubicBezTo>
                    <a:pt x="0" y="342138"/>
                    <a:pt x="342138" y="0"/>
                    <a:pt x="764159" y="0"/>
                  </a:cubicBezTo>
                  <a:lnTo>
                    <a:pt x="5649341" y="0"/>
                  </a:lnTo>
                  <a:cubicBezTo>
                    <a:pt x="6071362" y="0"/>
                    <a:pt x="6413500" y="342138"/>
                    <a:pt x="6413500" y="764159"/>
                  </a:cubicBezTo>
                  <a:lnTo>
                    <a:pt x="6413500" y="3820541"/>
                  </a:lnTo>
                  <a:cubicBezTo>
                    <a:pt x="6413500" y="4242562"/>
                    <a:pt x="6071362" y="4584700"/>
                    <a:pt x="5649341" y="4584700"/>
                  </a:cubicBezTo>
                  <a:lnTo>
                    <a:pt x="764159" y="4584700"/>
                  </a:lnTo>
                  <a:cubicBezTo>
                    <a:pt x="342138" y="4584700"/>
                    <a:pt x="0" y="4242562"/>
                    <a:pt x="0" y="382054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6400800" y="5102352"/>
            <a:ext cx="54864" cy="3429000"/>
            <a:chOff x="0" y="0"/>
            <a:chExt cx="73152" cy="4572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73152" cy="4572000"/>
            </a:xfrm>
            <a:custGeom>
              <a:avLst/>
              <a:gdLst/>
              <a:ahLst/>
              <a:cxnLst/>
              <a:rect r="r" b="b" t="t" l="l"/>
              <a:pathLst>
                <a:path h="4572000" w="73152">
                  <a:moveTo>
                    <a:pt x="0" y="0"/>
                  </a:moveTo>
                  <a:lnTo>
                    <a:pt x="73152" y="0"/>
                  </a:lnTo>
                  <a:lnTo>
                    <a:pt x="73152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6665976" y="5312664"/>
            <a:ext cx="42793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02 · Experiment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665976" y="5879211"/>
            <a:ext cx="4540186" cy="2551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09"/>
              </a:lnSpc>
            </a:pPr>
            <a:r>
              <a:rPr lang="en-US" sz="1591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Change interception intensity, channel noise, measurement bases and reproducible seeds.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1379518" y="5097590"/>
            <a:ext cx="4810125" cy="3438525"/>
            <a:chOff x="0" y="0"/>
            <a:chExt cx="6413500" cy="45847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413500" cy="4584700"/>
            </a:xfrm>
            <a:custGeom>
              <a:avLst/>
              <a:gdLst/>
              <a:ahLst/>
              <a:cxnLst/>
              <a:rect r="r" b="b" t="t" l="l"/>
              <a:pathLst>
                <a:path h="4584700" w="6413500">
                  <a:moveTo>
                    <a:pt x="0" y="764159"/>
                  </a:moveTo>
                  <a:cubicBezTo>
                    <a:pt x="0" y="342138"/>
                    <a:pt x="342138" y="0"/>
                    <a:pt x="764159" y="0"/>
                  </a:cubicBezTo>
                  <a:lnTo>
                    <a:pt x="5649341" y="0"/>
                  </a:lnTo>
                  <a:cubicBezTo>
                    <a:pt x="6071362" y="0"/>
                    <a:pt x="6413500" y="342138"/>
                    <a:pt x="6413500" y="764159"/>
                  </a:cubicBezTo>
                  <a:lnTo>
                    <a:pt x="6413500" y="3820541"/>
                  </a:lnTo>
                  <a:cubicBezTo>
                    <a:pt x="6413500" y="4242562"/>
                    <a:pt x="6071362" y="4584700"/>
                    <a:pt x="5649341" y="4584700"/>
                  </a:cubicBezTo>
                  <a:lnTo>
                    <a:pt x="764159" y="4584700"/>
                  </a:lnTo>
                  <a:cubicBezTo>
                    <a:pt x="342138" y="4584700"/>
                    <a:pt x="0" y="4242562"/>
                    <a:pt x="0" y="382054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91" id="91"/>
          <p:cNvGrpSpPr/>
          <p:nvPr/>
        </p:nvGrpSpPr>
        <p:grpSpPr>
          <a:xfrm rot="0">
            <a:off x="11384280" y="5102352"/>
            <a:ext cx="54864" cy="3429000"/>
            <a:chOff x="0" y="0"/>
            <a:chExt cx="73152" cy="45720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73152" cy="4572000"/>
            </a:xfrm>
            <a:custGeom>
              <a:avLst/>
              <a:gdLst/>
              <a:ahLst/>
              <a:cxnLst/>
              <a:rect r="r" b="b" t="t" l="l"/>
              <a:pathLst>
                <a:path h="4572000" w="73152">
                  <a:moveTo>
                    <a:pt x="0" y="0"/>
                  </a:moveTo>
                  <a:lnTo>
                    <a:pt x="73152" y="0"/>
                  </a:lnTo>
                  <a:lnTo>
                    <a:pt x="73152" y="4572000"/>
                  </a:lnTo>
                  <a:lnTo>
                    <a:pt x="0" y="4572000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1649456" y="5312664"/>
            <a:ext cx="42793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03 · Evaluate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649456" y="5879211"/>
            <a:ext cx="4626864" cy="259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6"/>
              </a:lnSpc>
            </a:pPr>
            <a:r>
              <a:rPr lang="en-US" sz="1621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Compare sampled QBER with a configurable threshold and inspect PASS / ABORT / INSUFFICIENT DATA.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1" id="51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3" id="53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5" id="55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Solution &amp; Quantum Advantage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897731" y="3366611"/>
            <a:ext cx="16492538" cy="5885497"/>
          </a:xfrm>
          <a:custGeom>
            <a:avLst/>
            <a:gdLst/>
            <a:ahLst/>
            <a:cxnLst/>
            <a:rect r="r" b="b" t="t" l="l"/>
            <a:pathLst>
              <a:path h="5885497" w="16492538">
                <a:moveTo>
                  <a:pt x="0" y="0"/>
                </a:moveTo>
                <a:lnTo>
                  <a:pt x="16492538" y="0"/>
                </a:lnTo>
                <a:lnTo>
                  <a:pt x="1649253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349378" y="3361058"/>
            <a:ext cx="1690402" cy="154210"/>
            <a:chOff x="0" y="0"/>
            <a:chExt cx="2253869" cy="2056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72184" y="3593592"/>
            <a:ext cx="14977872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OUR APPROACH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72184" y="4187952"/>
            <a:ext cx="14246352" cy="56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BB84 links physical disturbance to an observable test.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508760" y="5047488"/>
            <a:ext cx="3749040" cy="1508760"/>
            <a:chOff x="0" y="0"/>
            <a:chExt cx="4998720" cy="201168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9987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99872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4663440" y="0"/>
                  </a:lnTo>
                  <a:cubicBezTo>
                    <a:pt x="4848606" y="0"/>
                    <a:pt x="4998720" y="150114"/>
                    <a:pt x="4998720" y="335280"/>
                  </a:cubicBezTo>
                  <a:lnTo>
                    <a:pt x="4998720" y="1676400"/>
                  </a:lnTo>
                  <a:cubicBezTo>
                    <a:pt x="4998720" y="1861566"/>
                    <a:pt x="4848606" y="2011680"/>
                    <a:pt x="4663440" y="2011680"/>
                  </a:cubicBezTo>
                  <a:lnTo>
                    <a:pt x="335280" y="2011680"/>
                  </a:lnTo>
                  <a:cubicBezTo>
                    <a:pt x="150114" y="2011680"/>
                    <a:pt x="0" y="1861566"/>
                    <a:pt x="0" y="1676400"/>
                  </a:cubicBezTo>
                  <a:close/>
                </a:path>
              </a:pathLst>
            </a:custGeom>
            <a:solidFill>
              <a:srgbClr val="17252F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746504" y="5303520"/>
            <a:ext cx="33649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5F2EA"/>
                </a:solidFill>
                <a:latin typeface="Inter Bold"/>
                <a:ea typeface="Inter Bold"/>
                <a:cs typeface="Inter Bold"/>
                <a:sym typeface="Inter Bold"/>
              </a:rPr>
              <a:t>ALICE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46504" y="5843016"/>
            <a:ext cx="33375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C7D9D5"/>
                </a:solidFill>
                <a:latin typeface="Inter"/>
                <a:ea typeface="Inter"/>
                <a:cs typeface="Inter"/>
                <a:sym typeface="Inter"/>
              </a:rPr>
              <a:t>Prepare random bit + basis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7406640" y="5047488"/>
            <a:ext cx="3749040" cy="1508760"/>
            <a:chOff x="0" y="0"/>
            <a:chExt cx="4998720" cy="20116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9987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99872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4663440" y="0"/>
                  </a:lnTo>
                  <a:cubicBezTo>
                    <a:pt x="4848606" y="0"/>
                    <a:pt x="4998720" y="150114"/>
                    <a:pt x="4998720" y="335280"/>
                  </a:cubicBezTo>
                  <a:lnTo>
                    <a:pt x="4998720" y="1676400"/>
                  </a:lnTo>
                  <a:cubicBezTo>
                    <a:pt x="4998720" y="1861566"/>
                    <a:pt x="4848606" y="2011680"/>
                    <a:pt x="4663440" y="2011680"/>
                  </a:cubicBezTo>
                  <a:lnTo>
                    <a:pt x="335280" y="2011680"/>
                  </a:lnTo>
                  <a:cubicBezTo>
                    <a:pt x="150114" y="2011680"/>
                    <a:pt x="0" y="1861566"/>
                    <a:pt x="0" y="1676400"/>
                  </a:cubicBezTo>
                  <a:close/>
                </a:path>
              </a:pathLst>
            </a:custGeom>
            <a:solidFill>
              <a:srgbClr val="17252F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7644384" y="5303520"/>
            <a:ext cx="33649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5F2EA"/>
                </a:solidFill>
                <a:latin typeface="Inter Bold"/>
                <a:ea typeface="Inter Bold"/>
                <a:cs typeface="Inter Bold"/>
                <a:sym typeface="Inter Bold"/>
              </a:rPr>
              <a:t>CHANNEL / EVE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644384" y="5843016"/>
            <a:ext cx="33375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C7D9D5"/>
                </a:solidFill>
                <a:latin typeface="Inter"/>
                <a:ea typeface="Inter"/>
                <a:cs typeface="Inter"/>
                <a:sym typeface="Inter"/>
              </a:rPr>
              <a:t>Optional intercept-resend + noise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13258800" y="5047488"/>
            <a:ext cx="3749040" cy="1508760"/>
            <a:chOff x="0" y="0"/>
            <a:chExt cx="4998720" cy="20116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998720" cy="2011680"/>
            </a:xfrm>
            <a:custGeom>
              <a:avLst/>
              <a:gdLst/>
              <a:ahLst/>
              <a:cxnLst/>
              <a:rect r="r" b="b" t="t" l="l"/>
              <a:pathLst>
                <a:path h="2011680" w="4998720">
                  <a:moveTo>
                    <a:pt x="0" y="335280"/>
                  </a:moveTo>
                  <a:cubicBezTo>
                    <a:pt x="0" y="150114"/>
                    <a:pt x="150114" y="0"/>
                    <a:pt x="335280" y="0"/>
                  </a:cubicBezTo>
                  <a:lnTo>
                    <a:pt x="4663440" y="0"/>
                  </a:lnTo>
                  <a:cubicBezTo>
                    <a:pt x="4848606" y="0"/>
                    <a:pt x="4998720" y="150114"/>
                    <a:pt x="4998720" y="335280"/>
                  </a:cubicBezTo>
                  <a:lnTo>
                    <a:pt x="4998720" y="1676400"/>
                  </a:lnTo>
                  <a:cubicBezTo>
                    <a:pt x="4998720" y="1861566"/>
                    <a:pt x="4848606" y="2011680"/>
                    <a:pt x="4663440" y="2011680"/>
                  </a:cubicBezTo>
                  <a:lnTo>
                    <a:pt x="335280" y="2011680"/>
                  </a:lnTo>
                  <a:cubicBezTo>
                    <a:pt x="150114" y="2011680"/>
                    <a:pt x="0" y="1861566"/>
                    <a:pt x="0" y="1676400"/>
                  </a:cubicBezTo>
                  <a:close/>
                </a:path>
              </a:pathLst>
            </a:custGeom>
            <a:solidFill>
              <a:srgbClr val="17252F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13496544" y="5303520"/>
            <a:ext cx="336499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F5F2EA"/>
                </a:solidFill>
                <a:latin typeface="Inter Bold"/>
                <a:ea typeface="Inter Bold"/>
                <a:cs typeface="Inter Bold"/>
                <a:sym typeface="Inter Bold"/>
              </a:rPr>
              <a:t>BOB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3496544" y="5843016"/>
            <a:ext cx="3337560" cy="521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C7D9D5"/>
                </a:solidFill>
                <a:latin typeface="Inter"/>
                <a:ea typeface="Inter"/>
                <a:cs typeface="Inter"/>
                <a:sym typeface="Inter"/>
              </a:rPr>
              <a:t>Measure in random basis</a:t>
            </a:r>
          </a:p>
        </p:txBody>
      </p:sp>
      <p:sp>
        <p:nvSpPr>
          <p:cNvPr name="AutoShape 89" id="89"/>
          <p:cNvSpPr/>
          <p:nvPr/>
        </p:nvSpPr>
        <p:spPr>
          <a:xfrm rot="64740">
            <a:off x="5357441" y="5755576"/>
            <a:ext cx="2022710" cy="0"/>
          </a:xfrm>
          <a:prstGeom prst="line">
            <a:avLst/>
          </a:prstGeom>
          <a:ln cap="rnd" w="28575">
            <a:solidFill>
              <a:srgbClr val="477C7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0" id="90"/>
          <p:cNvSpPr/>
          <p:nvPr/>
        </p:nvSpPr>
        <p:spPr>
          <a:xfrm rot="64740">
            <a:off x="11182169" y="5755576"/>
            <a:ext cx="2022710" cy="0"/>
          </a:xfrm>
          <a:prstGeom prst="line">
            <a:avLst/>
          </a:prstGeom>
          <a:ln cap="rnd" w="28575">
            <a:solidFill>
              <a:srgbClr val="477C78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1" id="91"/>
          <p:cNvGrpSpPr/>
          <p:nvPr/>
        </p:nvGrpSpPr>
        <p:grpSpPr>
          <a:xfrm rot="0">
            <a:off x="1508760" y="6995160"/>
            <a:ext cx="15499080" cy="1216152"/>
            <a:chOff x="0" y="0"/>
            <a:chExt cx="20665440" cy="1621536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0665441" cy="1621536"/>
            </a:xfrm>
            <a:custGeom>
              <a:avLst/>
              <a:gdLst/>
              <a:ahLst/>
              <a:cxnLst/>
              <a:rect r="r" b="b" t="t" l="l"/>
              <a:pathLst>
                <a:path h="1621536" w="20665441">
                  <a:moveTo>
                    <a:pt x="0" y="270256"/>
                  </a:moveTo>
                  <a:cubicBezTo>
                    <a:pt x="0" y="121031"/>
                    <a:pt x="121031" y="0"/>
                    <a:pt x="270256" y="0"/>
                  </a:cubicBezTo>
                  <a:lnTo>
                    <a:pt x="20395185" y="0"/>
                  </a:lnTo>
                  <a:cubicBezTo>
                    <a:pt x="20544410" y="0"/>
                    <a:pt x="20665441" y="121031"/>
                    <a:pt x="20665441" y="270256"/>
                  </a:cubicBezTo>
                  <a:lnTo>
                    <a:pt x="20665441" y="1351280"/>
                  </a:lnTo>
                  <a:cubicBezTo>
                    <a:pt x="20665441" y="1500505"/>
                    <a:pt x="20544410" y="1621536"/>
                    <a:pt x="20395185" y="1621536"/>
                  </a:cubicBezTo>
                  <a:lnTo>
                    <a:pt x="270256" y="1621536"/>
                  </a:lnTo>
                  <a:cubicBezTo>
                    <a:pt x="121031" y="1621536"/>
                    <a:pt x="0" y="1500505"/>
                    <a:pt x="0" y="1351280"/>
                  </a:cubicBezTo>
                  <a:close/>
                </a:path>
              </a:pathLst>
            </a:custGeom>
            <a:solidFill>
              <a:srgbClr val="E7F0EE"/>
            </a:solidFill>
          </p:spPr>
        </p:sp>
      </p:grpSp>
      <p:sp>
        <p:nvSpPr>
          <p:cNvPr name="TextBox 93" id="93"/>
          <p:cNvSpPr txBox="true"/>
          <p:nvPr/>
        </p:nvSpPr>
        <p:spPr>
          <a:xfrm rot="0">
            <a:off x="1719091" y="7366474"/>
            <a:ext cx="14886432" cy="70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QBER = mismatched compared sifted bits ÷ total compared sifted bits × 100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627632" y="8577072"/>
            <a:ext cx="14886432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PASS means the QBER test passed—not that a payment is verified. Real QKD needs additional security steps.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1" id="51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3" id="53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5" id="55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Algorithm &amp; Circuit Design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886616" y="3355496"/>
            <a:ext cx="9931051" cy="5907691"/>
          </a:xfrm>
          <a:custGeom>
            <a:avLst/>
            <a:gdLst/>
            <a:ahLst/>
            <a:cxnLst/>
            <a:rect r="r" b="b" t="t" l="l"/>
            <a:pathLst>
              <a:path h="5907691" w="9931051">
                <a:moveTo>
                  <a:pt x="0" y="0"/>
                </a:moveTo>
                <a:lnTo>
                  <a:pt x="9931050" y="0"/>
                </a:lnTo>
                <a:lnTo>
                  <a:pt x="9931050" y="5907690"/>
                </a:lnTo>
                <a:lnTo>
                  <a:pt x="0" y="5907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280160" y="3749040"/>
            <a:ext cx="9144000" cy="5120640"/>
            <a:chOff x="0" y="0"/>
            <a:chExt cx="12192000" cy="68275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21920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900" t="0" r="-21900" b="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80160" y="3699034"/>
            <a:ext cx="9144000" cy="5170646"/>
            <a:chOff x="0" y="0"/>
            <a:chExt cx="12192000" cy="6894195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192000" cy="6894195"/>
            </a:xfrm>
            <a:custGeom>
              <a:avLst/>
              <a:gdLst/>
              <a:ahLst/>
              <a:cxnLst/>
              <a:rect r="r" b="b" t="t" l="l"/>
              <a:pathLst>
                <a:path h="689419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94195"/>
                  </a:lnTo>
                  <a:lnTo>
                    <a:pt x="0" y="68941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551" t="0" r="-22551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66675"/>
              <a:ext cx="12192000" cy="6960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Insert circuit diagram</a:t>
              </a:r>
            </a:p>
            <a:p>
              <a:pPr algn="ctr">
                <a:lnSpc>
                  <a:spcPts val="2638"/>
                </a:lnSpc>
              </a:pPr>
              <a:r>
                <a:rPr lang="en-US" sz="2199" i="true">
                  <a:solidFill>
                    <a:srgbClr val="6F73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e.g. qc.draw("mpl")</a:t>
              </a:r>
            </a:p>
          </p:txBody>
        </p:sp>
      </p:grpSp>
      <p:sp>
        <p:nvSpPr>
          <p:cNvPr name="Freeform 73" id="73"/>
          <p:cNvSpPr/>
          <p:nvPr/>
        </p:nvSpPr>
        <p:spPr>
          <a:xfrm flipH="false" flipV="false" rot="0">
            <a:off x="11139011" y="3366611"/>
            <a:ext cx="6251257" cy="5885497"/>
          </a:xfrm>
          <a:custGeom>
            <a:avLst/>
            <a:gdLst/>
            <a:ahLst/>
            <a:cxnLst/>
            <a:rect r="r" b="b" t="t" l="l"/>
            <a:pathLst>
              <a:path h="5885497" w="6251257">
                <a:moveTo>
                  <a:pt x="0" y="0"/>
                </a:moveTo>
                <a:lnTo>
                  <a:pt x="6251258" y="0"/>
                </a:lnTo>
                <a:lnTo>
                  <a:pt x="625125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4" id="74"/>
          <p:cNvGrpSpPr/>
          <p:nvPr/>
        </p:nvGrpSpPr>
        <p:grpSpPr>
          <a:xfrm rot="0">
            <a:off x="11590658" y="3361058"/>
            <a:ext cx="1690402" cy="154210"/>
            <a:chOff x="0" y="0"/>
            <a:chExt cx="2253869" cy="20561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307592" y="3730752"/>
            <a:ext cx="9079992" cy="5047488"/>
            <a:chOff x="0" y="0"/>
            <a:chExt cx="12106656" cy="67299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2106656" cy="6729984"/>
            </a:xfrm>
            <a:custGeom>
              <a:avLst/>
              <a:gdLst/>
              <a:ahLst/>
              <a:cxnLst/>
              <a:rect r="r" b="b" t="t" l="l"/>
              <a:pathLst>
                <a:path h="6729984" w="12106656">
                  <a:moveTo>
                    <a:pt x="0" y="0"/>
                  </a:moveTo>
                  <a:lnTo>
                    <a:pt x="12106656" y="0"/>
                  </a:lnTo>
                  <a:lnTo>
                    <a:pt x="12106656" y="6729984"/>
                  </a:lnTo>
                  <a:lnTo>
                    <a:pt x="0" y="672998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1563624" y="3858387"/>
            <a:ext cx="8302752" cy="393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BB84 basis preparation &amp; measurement model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655064" y="4828032"/>
            <a:ext cx="2084832" cy="31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ALICE  |0⟩</a:t>
            </a:r>
          </a:p>
        </p:txBody>
      </p:sp>
      <p:sp>
        <p:nvSpPr>
          <p:cNvPr name="AutoShape 85" id="85"/>
          <p:cNvSpPr/>
          <p:nvPr/>
        </p:nvSpPr>
        <p:spPr>
          <a:xfrm rot="14280">
            <a:off x="3846043" y="4983099"/>
            <a:ext cx="6106211" cy="0"/>
          </a:xfrm>
          <a:prstGeom prst="line">
            <a:avLst/>
          </a:prstGeom>
          <a:ln cap="rnd" w="19050">
            <a:solidFill>
              <a:srgbClr val="64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6" id="86"/>
          <p:cNvSpPr txBox="true"/>
          <p:nvPr/>
        </p:nvSpPr>
        <p:spPr>
          <a:xfrm rot="0">
            <a:off x="1655064" y="6025896"/>
            <a:ext cx="2084832" cy="31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PREP   |+⟩</a:t>
            </a:r>
          </a:p>
        </p:txBody>
      </p:sp>
      <p:sp>
        <p:nvSpPr>
          <p:cNvPr name="AutoShape 87" id="87"/>
          <p:cNvSpPr/>
          <p:nvPr/>
        </p:nvSpPr>
        <p:spPr>
          <a:xfrm rot="14280">
            <a:off x="3846043" y="6180963"/>
            <a:ext cx="6106211" cy="0"/>
          </a:xfrm>
          <a:prstGeom prst="line">
            <a:avLst/>
          </a:prstGeom>
          <a:ln cap="rnd" w="19050">
            <a:solidFill>
              <a:srgbClr val="64717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8" id="88"/>
          <p:cNvSpPr txBox="true"/>
          <p:nvPr/>
        </p:nvSpPr>
        <p:spPr>
          <a:xfrm rot="0">
            <a:off x="1655064" y="7223760"/>
            <a:ext cx="2084832" cy="310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BOB     M</a:t>
            </a:r>
          </a:p>
        </p:txBody>
      </p:sp>
      <p:sp>
        <p:nvSpPr>
          <p:cNvPr name="AutoShape 89" id="89"/>
          <p:cNvSpPr/>
          <p:nvPr/>
        </p:nvSpPr>
        <p:spPr>
          <a:xfrm rot="14280">
            <a:off x="3846043" y="7378827"/>
            <a:ext cx="6106211" cy="0"/>
          </a:xfrm>
          <a:prstGeom prst="line">
            <a:avLst/>
          </a:prstGeom>
          <a:ln cap="rnd" w="19050">
            <a:solidFill>
              <a:srgbClr val="64717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0" id="90"/>
          <p:cNvGrpSpPr/>
          <p:nvPr/>
        </p:nvGrpSpPr>
        <p:grpSpPr>
          <a:xfrm rot="0">
            <a:off x="4256342" y="4658678"/>
            <a:ext cx="722757" cy="649605"/>
            <a:chOff x="0" y="0"/>
            <a:chExt cx="963676" cy="8661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63676" cy="866140"/>
            </a:xfrm>
            <a:custGeom>
              <a:avLst/>
              <a:gdLst/>
              <a:ahLst/>
              <a:cxnLst/>
              <a:rect r="r" b="b" t="t" l="l"/>
              <a:pathLst>
                <a:path h="866140" w="963676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819277" y="0"/>
                  </a:lnTo>
                  <a:cubicBezTo>
                    <a:pt x="899033" y="0"/>
                    <a:pt x="963676" y="64643"/>
                    <a:pt x="963676" y="144399"/>
                  </a:cubicBezTo>
                  <a:lnTo>
                    <a:pt x="963676" y="721741"/>
                  </a:lnTo>
                  <a:cubicBezTo>
                    <a:pt x="963676" y="801497"/>
                    <a:pt x="899033" y="866140"/>
                    <a:pt x="819277" y="866140"/>
                  </a:cubicBezTo>
                  <a:lnTo>
                    <a:pt x="144399" y="866140"/>
                  </a:lnTo>
                  <a:cubicBezTo>
                    <a:pt x="64643" y="866140"/>
                    <a:pt x="0" y="801497"/>
                    <a:pt x="0" y="721741"/>
                  </a:cubicBezTo>
                  <a:close/>
                </a:path>
              </a:pathLst>
            </a:custGeom>
            <a:solidFill>
              <a:srgbClr val="E6F0EE"/>
            </a:solidFill>
            <a:ln w="9525" cap="sq">
              <a:solidFill>
                <a:srgbClr val="477C78"/>
              </a:solidFill>
              <a:prstDash val="solid"/>
              <a:miter/>
            </a:ln>
          </p:spPr>
        </p:sp>
      </p:grpSp>
      <p:sp>
        <p:nvSpPr>
          <p:cNvPr name="TextBox 92" id="92"/>
          <p:cNvSpPr txBox="true"/>
          <p:nvPr/>
        </p:nvSpPr>
        <p:spPr>
          <a:xfrm rot="0">
            <a:off x="4471416" y="4809744"/>
            <a:ext cx="347472" cy="28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</a:t>
            </a:r>
          </a:p>
        </p:txBody>
      </p:sp>
      <p:grpSp>
        <p:nvGrpSpPr>
          <p:cNvPr name="Group 93" id="93"/>
          <p:cNvGrpSpPr/>
          <p:nvPr/>
        </p:nvGrpSpPr>
        <p:grpSpPr>
          <a:xfrm rot="0">
            <a:off x="5481638" y="4658678"/>
            <a:ext cx="722757" cy="649605"/>
            <a:chOff x="0" y="0"/>
            <a:chExt cx="963676" cy="86614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63676" cy="866140"/>
            </a:xfrm>
            <a:custGeom>
              <a:avLst/>
              <a:gdLst/>
              <a:ahLst/>
              <a:cxnLst/>
              <a:rect r="r" b="b" t="t" l="l"/>
              <a:pathLst>
                <a:path h="866140" w="963676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819277" y="0"/>
                  </a:lnTo>
                  <a:cubicBezTo>
                    <a:pt x="899033" y="0"/>
                    <a:pt x="963676" y="64643"/>
                    <a:pt x="963676" y="144399"/>
                  </a:cubicBezTo>
                  <a:lnTo>
                    <a:pt x="963676" y="721741"/>
                  </a:lnTo>
                  <a:cubicBezTo>
                    <a:pt x="963676" y="801497"/>
                    <a:pt x="899033" y="866140"/>
                    <a:pt x="819277" y="866140"/>
                  </a:cubicBezTo>
                  <a:lnTo>
                    <a:pt x="144399" y="866140"/>
                  </a:lnTo>
                  <a:cubicBezTo>
                    <a:pt x="64643" y="866140"/>
                    <a:pt x="0" y="801497"/>
                    <a:pt x="0" y="721741"/>
                  </a:cubicBezTo>
                  <a:close/>
                </a:path>
              </a:pathLst>
            </a:custGeom>
            <a:solidFill>
              <a:srgbClr val="E6F0EE"/>
            </a:solidFill>
            <a:ln w="9525" cap="sq">
              <a:solidFill>
                <a:srgbClr val="477C78"/>
              </a:solidFill>
              <a:prstDash val="solid"/>
              <a:miter/>
            </a:ln>
          </p:spPr>
        </p:sp>
      </p:grpSp>
      <p:sp>
        <p:nvSpPr>
          <p:cNvPr name="TextBox 95" id="95"/>
          <p:cNvSpPr txBox="true"/>
          <p:nvPr/>
        </p:nvSpPr>
        <p:spPr>
          <a:xfrm rot="0">
            <a:off x="5696712" y="4809744"/>
            <a:ext cx="347472" cy="28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X</a:t>
            </a:r>
          </a:p>
        </p:txBody>
      </p:sp>
      <p:grpSp>
        <p:nvGrpSpPr>
          <p:cNvPr name="Group 96" id="96"/>
          <p:cNvGrpSpPr/>
          <p:nvPr/>
        </p:nvGrpSpPr>
        <p:grpSpPr>
          <a:xfrm rot="0">
            <a:off x="7493318" y="5847397"/>
            <a:ext cx="722757" cy="649605"/>
            <a:chOff x="0" y="0"/>
            <a:chExt cx="963676" cy="86614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963676" cy="866140"/>
            </a:xfrm>
            <a:custGeom>
              <a:avLst/>
              <a:gdLst/>
              <a:ahLst/>
              <a:cxnLst/>
              <a:rect r="r" b="b" t="t" l="l"/>
              <a:pathLst>
                <a:path h="866140" w="963676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819277" y="0"/>
                  </a:lnTo>
                  <a:cubicBezTo>
                    <a:pt x="899033" y="0"/>
                    <a:pt x="963676" y="64643"/>
                    <a:pt x="963676" y="144399"/>
                  </a:cubicBezTo>
                  <a:lnTo>
                    <a:pt x="963676" y="721741"/>
                  </a:lnTo>
                  <a:cubicBezTo>
                    <a:pt x="963676" y="801497"/>
                    <a:pt x="899033" y="866140"/>
                    <a:pt x="819277" y="866140"/>
                  </a:cubicBezTo>
                  <a:lnTo>
                    <a:pt x="144399" y="866140"/>
                  </a:lnTo>
                  <a:cubicBezTo>
                    <a:pt x="64643" y="866140"/>
                    <a:pt x="0" y="801497"/>
                    <a:pt x="0" y="721741"/>
                  </a:cubicBezTo>
                  <a:close/>
                </a:path>
              </a:pathLst>
            </a:custGeom>
            <a:solidFill>
              <a:srgbClr val="E6F0EE"/>
            </a:solidFill>
            <a:ln w="9525" cap="sq">
              <a:solidFill>
                <a:srgbClr val="477C78"/>
              </a:solidFill>
              <a:prstDash val="solid"/>
              <a:miter/>
            </a:ln>
          </p:spPr>
        </p:sp>
      </p:grpSp>
      <p:sp>
        <p:nvSpPr>
          <p:cNvPr name="TextBox 98" id="98"/>
          <p:cNvSpPr txBox="true"/>
          <p:nvPr/>
        </p:nvSpPr>
        <p:spPr>
          <a:xfrm rot="0">
            <a:off x="7708392" y="5998464"/>
            <a:ext cx="347472" cy="28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H</a:t>
            </a:r>
          </a:p>
        </p:txBody>
      </p:sp>
      <p:grpSp>
        <p:nvGrpSpPr>
          <p:cNvPr name="Group 99" id="99"/>
          <p:cNvGrpSpPr/>
          <p:nvPr/>
        </p:nvGrpSpPr>
        <p:grpSpPr>
          <a:xfrm rot="0">
            <a:off x="8956357" y="7054406"/>
            <a:ext cx="722757" cy="649605"/>
            <a:chOff x="0" y="0"/>
            <a:chExt cx="963676" cy="86614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63676" cy="866140"/>
            </a:xfrm>
            <a:custGeom>
              <a:avLst/>
              <a:gdLst/>
              <a:ahLst/>
              <a:cxnLst/>
              <a:rect r="r" b="b" t="t" l="l"/>
              <a:pathLst>
                <a:path h="866140" w="963676">
                  <a:moveTo>
                    <a:pt x="0" y="144399"/>
                  </a:moveTo>
                  <a:cubicBezTo>
                    <a:pt x="0" y="64643"/>
                    <a:pt x="64643" y="0"/>
                    <a:pt x="144399" y="0"/>
                  </a:cubicBezTo>
                  <a:lnTo>
                    <a:pt x="819277" y="0"/>
                  </a:lnTo>
                  <a:cubicBezTo>
                    <a:pt x="899033" y="0"/>
                    <a:pt x="963676" y="64643"/>
                    <a:pt x="963676" y="144399"/>
                  </a:cubicBezTo>
                  <a:lnTo>
                    <a:pt x="963676" y="721741"/>
                  </a:lnTo>
                  <a:cubicBezTo>
                    <a:pt x="963676" y="801497"/>
                    <a:pt x="899033" y="866140"/>
                    <a:pt x="819277" y="866140"/>
                  </a:cubicBezTo>
                  <a:lnTo>
                    <a:pt x="144399" y="866140"/>
                  </a:lnTo>
                  <a:cubicBezTo>
                    <a:pt x="64643" y="866140"/>
                    <a:pt x="0" y="801497"/>
                    <a:pt x="0" y="721741"/>
                  </a:cubicBezTo>
                  <a:close/>
                </a:path>
              </a:pathLst>
            </a:custGeom>
            <a:solidFill>
              <a:srgbClr val="E6F0EE"/>
            </a:solidFill>
            <a:ln w="9525" cap="sq">
              <a:solidFill>
                <a:srgbClr val="477C78"/>
              </a:solidFill>
              <a:prstDash val="solid"/>
              <a:miter/>
            </a:ln>
          </p:spPr>
        </p:sp>
      </p:grpSp>
      <p:sp>
        <p:nvSpPr>
          <p:cNvPr name="TextBox 101" id="101"/>
          <p:cNvSpPr txBox="true"/>
          <p:nvPr/>
        </p:nvSpPr>
        <p:spPr>
          <a:xfrm rot="0">
            <a:off x="9171432" y="7205472"/>
            <a:ext cx="347472" cy="28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17252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M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655064" y="8394192"/>
            <a:ext cx="8302752" cy="265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Schematic logic illustration — not an exported Qiskit circuit.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1631168" y="3703320"/>
            <a:ext cx="5303520" cy="5102352"/>
            <a:chOff x="0" y="0"/>
            <a:chExt cx="7071360" cy="6803136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7071360" cy="6803136"/>
            </a:xfrm>
            <a:custGeom>
              <a:avLst/>
              <a:gdLst/>
              <a:ahLst/>
              <a:cxnLst/>
              <a:rect r="r" b="b" t="t" l="l"/>
              <a:pathLst>
                <a:path h="6803136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803136"/>
                  </a:lnTo>
                  <a:lnTo>
                    <a:pt x="0" y="680313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05" id="105"/>
          <p:cNvSpPr txBox="true"/>
          <p:nvPr/>
        </p:nvSpPr>
        <p:spPr>
          <a:xfrm rot="0">
            <a:off x="11878056" y="3940683"/>
            <a:ext cx="4553712" cy="375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Protocol sequence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1914632" y="4617720"/>
            <a:ext cx="4553712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BM Plex Mono"/>
                <a:ea typeface="IBM Plex Mono"/>
                <a:cs typeface="IBM Plex Mono"/>
                <a:sym typeface="IBM Plex Mono"/>
              </a:rPr>
              <a:t>1  Random bits + bases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11914632" y="5230368"/>
            <a:ext cx="4553712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BM Plex Mono"/>
                <a:ea typeface="IBM Plex Mono"/>
                <a:cs typeface="IBM Plex Mono"/>
                <a:sym typeface="IBM Plex Mono"/>
              </a:rPr>
              <a:t>2  Optional Eve intercept-resend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1914632" y="5843016"/>
            <a:ext cx="4553712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BM Plex Mono"/>
                <a:ea typeface="IBM Plex Mono"/>
                <a:cs typeface="IBM Plex Mono"/>
                <a:sym typeface="IBM Plex Mono"/>
              </a:rPr>
              <a:t>3  Bob random-basis measurement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11914632" y="6455664"/>
            <a:ext cx="4553712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BM Plex Mono"/>
                <a:ea typeface="IBM Plex Mono"/>
                <a:cs typeface="IBM Plex Mono"/>
                <a:sym typeface="IBM Plex Mono"/>
              </a:rPr>
              <a:t>4  Public basis reconciliation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11914632" y="7068312"/>
            <a:ext cx="4553712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BM Plex Mono"/>
                <a:ea typeface="IBM Plex Mono"/>
                <a:cs typeface="IBM Plex Mono"/>
                <a:sym typeface="IBM Plex Mono"/>
              </a:rPr>
              <a:t>5  Sift, sample and estimate QBER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11914632" y="7680960"/>
            <a:ext cx="4553712" cy="329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BM Plex Mono"/>
                <a:ea typeface="IBM Plex Mono"/>
                <a:cs typeface="IBM Plex Mono"/>
                <a:sym typeface="IBM Plex Mono"/>
              </a:rPr>
              <a:t>6  PASS / ABORT / insufficient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1" id="51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3" id="53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5" id="55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Implementation &amp; Tech Stack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897731" y="3366611"/>
            <a:ext cx="16492538" cy="5885497"/>
          </a:xfrm>
          <a:custGeom>
            <a:avLst/>
            <a:gdLst/>
            <a:ahLst/>
            <a:cxnLst/>
            <a:rect r="r" b="b" t="t" l="l"/>
            <a:pathLst>
              <a:path h="5885497" w="16492538">
                <a:moveTo>
                  <a:pt x="0" y="0"/>
                </a:moveTo>
                <a:lnTo>
                  <a:pt x="16492538" y="0"/>
                </a:lnTo>
                <a:lnTo>
                  <a:pt x="1649253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349378" y="3361058"/>
            <a:ext cx="1690402" cy="154210"/>
            <a:chOff x="0" y="0"/>
            <a:chExt cx="2253869" cy="2056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72184" y="3593592"/>
            <a:ext cx="14977872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IMPLEMENTED ARCHITECTURE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412558" y="4201478"/>
            <a:ext cx="7141845" cy="1902333"/>
            <a:chOff x="0" y="0"/>
            <a:chExt cx="9522460" cy="25364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522460" cy="2536444"/>
            </a:xfrm>
            <a:custGeom>
              <a:avLst/>
              <a:gdLst/>
              <a:ahLst/>
              <a:cxnLst/>
              <a:rect r="r" b="b" t="t" l="l"/>
              <a:pathLst>
                <a:path h="2536444" w="9522460">
                  <a:moveTo>
                    <a:pt x="0" y="422783"/>
                  </a:moveTo>
                  <a:cubicBezTo>
                    <a:pt x="0" y="189230"/>
                    <a:pt x="189230" y="0"/>
                    <a:pt x="422783" y="0"/>
                  </a:cubicBezTo>
                  <a:lnTo>
                    <a:pt x="9099677" y="0"/>
                  </a:lnTo>
                  <a:cubicBezTo>
                    <a:pt x="9333230" y="0"/>
                    <a:pt x="9522460" y="189230"/>
                    <a:pt x="9522460" y="422783"/>
                  </a:cubicBezTo>
                  <a:lnTo>
                    <a:pt x="9522460" y="2113661"/>
                  </a:lnTo>
                  <a:cubicBezTo>
                    <a:pt x="9522460" y="2347087"/>
                    <a:pt x="9333230" y="2536444"/>
                    <a:pt x="9099677" y="2536444"/>
                  </a:cubicBezTo>
                  <a:lnTo>
                    <a:pt x="422783" y="2536444"/>
                  </a:lnTo>
                  <a:cubicBezTo>
                    <a:pt x="189230" y="2536444"/>
                    <a:pt x="0" y="2347214"/>
                    <a:pt x="0" y="211366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417320" y="4206240"/>
            <a:ext cx="54864" cy="1892808"/>
            <a:chOff x="0" y="0"/>
            <a:chExt cx="73152" cy="25237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3152" cy="2523744"/>
            </a:xfrm>
            <a:custGeom>
              <a:avLst/>
              <a:gdLst/>
              <a:ahLst/>
              <a:cxnLst/>
              <a:rect r="r" b="b" t="t" l="l"/>
              <a:pathLst>
                <a:path h="2523744" w="73152">
                  <a:moveTo>
                    <a:pt x="0" y="0"/>
                  </a:moveTo>
                  <a:lnTo>
                    <a:pt x="73152" y="0"/>
                  </a:lnTo>
                  <a:lnTo>
                    <a:pt x="7315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682496" y="4416552"/>
            <a:ext cx="661111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PYTHON + NUMPY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82496" y="4983099"/>
            <a:ext cx="6611112" cy="8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Seeded BB84 state and measurement simulation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8910638" y="4201478"/>
            <a:ext cx="7141845" cy="1902333"/>
            <a:chOff x="0" y="0"/>
            <a:chExt cx="9522460" cy="25364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22460" cy="2536444"/>
            </a:xfrm>
            <a:custGeom>
              <a:avLst/>
              <a:gdLst/>
              <a:ahLst/>
              <a:cxnLst/>
              <a:rect r="r" b="b" t="t" l="l"/>
              <a:pathLst>
                <a:path h="2536444" w="9522460">
                  <a:moveTo>
                    <a:pt x="0" y="422783"/>
                  </a:moveTo>
                  <a:cubicBezTo>
                    <a:pt x="0" y="189230"/>
                    <a:pt x="189230" y="0"/>
                    <a:pt x="422783" y="0"/>
                  </a:cubicBezTo>
                  <a:lnTo>
                    <a:pt x="9099677" y="0"/>
                  </a:lnTo>
                  <a:cubicBezTo>
                    <a:pt x="9333230" y="0"/>
                    <a:pt x="9522460" y="189230"/>
                    <a:pt x="9522460" y="422783"/>
                  </a:cubicBezTo>
                  <a:lnTo>
                    <a:pt x="9522460" y="2113661"/>
                  </a:lnTo>
                  <a:cubicBezTo>
                    <a:pt x="9522460" y="2347087"/>
                    <a:pt x="9333230" y="2536444"/>
                    <a:pt x="9099677" y="2536444"/>
                  </a:cubicBezTo>
                  <a:lnTo>
                    <a:pt x="422783" y="2536444"/>
                  </a:lnTo>
                  <a:cubicBezTo>
                    <a:pt x="189230" y="2536444"/>
                    <a:pt x="0" y="2347214"/>
                    <a:pt x="0" y="211366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8915400" y="4206240"/>
            <a:ext cx="54864" cy="1892808"/>
            <a:chOff x="0" y="0"/>
            <a:chExt cx="73152" cy="252374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" cy="2523744"/>
            </a:xfrm>
            <a:custGeom>
              <a:avLst/>
              <a:gdLst/>
              <a:ahLst/>
              <a:cxnLst/>
              <a:rect r="r" b="b" t="t" l="l"/>
              <a:pathLst>
                <a:path h="2523744" w="73152">
                  <a:moveTo>
                    <a:pt x="0" y="0"/>
                  </a:moveTo>
                  <a:lnTo>
                    <a:pt x="73152" y="0"/>
                  </a:lnTo>
                  <a:lnTo>
                    <a:pt x="7315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9180576" y="4416552"/>
            <a:ext cx="661111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FASTAPI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180576" y="4983099"/>
            <a:ext cx="6611112" cy="8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Validated simulation and mock-payment endpoints</a:t>
            </a:r>
          </a:p>
        </p:txBody>
      </p:sp>
      <p:grpSp>
        <p:nvGrpSpPr>
          <p:cNvPr name="Group 88" id="88"/>
          <p:cNvGrpSpPr/>
          <p:nvPr/>
        </p:nvGrpSpPr>
        <p:grpSpPr>
          <a:xfrm rot="0">
            <a:off x="1412558" y="6359462"/>
            <a:ext cx="7141845" cy="1902333"/>
            <a:chOff x="0" y="0"/>
            <a:chExt cx="9522460" cy="2536444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522460" cy="2536444"/>
            </a:xfrm>
            <a:custGeom>
              <a:avLst/>
              <a:gdLst/>
              <a:ahLst/>
              <a:cxnLst/>
              <a:rect r="r" b="b" t="t" l="l"/>
              <a:pathLst>
                <a:path h="2536444" w="9522460">
                  <a:moveTo>
                    <a:pt x="0" y="422783"/>
                  </a:moveTo>
                  <a:cubicBezTo>
                    <a:pt x="0" y="189230"/>
                    <a:pt x="189230" y="0"/>
                    <a:pt x="422783" y="0"/>
                  </a:cubicBezTo>
                  <a:lnTo>
                    <a:pt x="9099677" y="0"/>
                  </a:lnTo>
                  <a:cubicBezTo>
                    <a:pt x="9333230" y="0"/>
                    <a:pt x="9522460" y="189230"/>
                    <a:pt x="9522460" y="422783"/>
                  </a:cubicBezTo>
                  <a:lnTo>
                    <a:pt x="9522460" y="2113661"/>
                  </a:lnTo>
                  <a:cubicBezTo>
                    <a:pt x="9522460" y="2347087"/>
                    <a:pt x="9333230" y="2536444"/>
                    <a:pt x="9099677" y="2536444"/>
                  </a:cubicBezTo>
                  <a:lnTo>
                    <a:pt x="422783" y="2536444"/>
                  </a:lnTo>
                  <a:cubicBezTo>
                    <a:pt x="189230" y="2536444"/>
                    <a:pt x="0" y="2347214"/>
                    <a:pt x="0" y="211366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417320" y="6364224"/>
            <a:ext cx="54864" cy="1892808"/>
            <a:chOff x="0" y="0"/>
            <a:chExt cx="73152" cy="252374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3152" cy="2523744"/>
            </a:xfrm>
            <a:custGeom>
              <a:avLst/>
              <a:gdLst/>
              <a:ahLst/>
              <a:cxnLst/>
              <a:rect r="r" b="b" t="t" l="l"/>
              <a:pathLst>
                <a:path h="2523744" w="73152">
                  <a:moveTo>
                    <a:pt x="0" y="0"/>
                  </a:moveTo>
                  <a:lnTo>
                    <a:pt x="73152" y="0"/>
                  </a:lnTo>
                  <a:lnTo>
                    <a:pt x="7315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92" id="92"/>
          <p:cNvSpPr txBox="true"/>
          <p:nvPr/>
        </p:nvSpPr>
        <p:spPr>
          <a:xfrm rot="0">
            <a:off x="1682496" y="6574536"/>
            <a:ext cx="661111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REACT + TYPESCRIPT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682496" y="7141083"/>
            <a:ext cx="6611112" cy="8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Interactive photon playback, controls and visualizations</a:t>
            </a:r>
          </a:p>
        </p:txBody>
      </p:sp>
      <p:grpSp>
        <p:nvGrpSpPr>
          <p:cNvPr name="Group 94" id="94"/>
          <p:cNvGrpSpPr/>
          <p:nvPr/>
        </p:nvGrpSpPr>
        <p:grpSpPr>
          <a:xfrm rot="0">
            <a:off x="8910638" y="6359462"/>
            <a:ext cx="7141845" cy="1902333"/>
            <a:chOff x="0" y="0"/>
            <a:chExt cx="9522460" cy="253644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522460" cy="2536444"/>
            </a:xfrm>
            <a:custGeom>
              <a:avLst/>
              <a:gdLst/>
              <a:ahLst/>
              <a:cxnLst/>
              <a:rect r="r" b="b" t="t" l="l"/>
              <a:pathLst>
                <a:path h="2536444" w="9522460">
                  <a:moveTo>
                    <a:pt x="0" y="422783"/>
                  </a:moveTo>
                  <a:cubicBezTo>
                    <a:pt x="0" y="189230"/>
                    <a:pt x="189230" y="0"/>
                    <a:pt x="422783" y="0"/>
                  </a:cubicBezTo>
                  <a:lnTo>
                    <a:pt x="9099677" y="0"/>
                  </a:lnTo>
                  <a:cubicBezTo>
                    <a:pt x="9333230" y="0"/>
                    <a:pt x="9522460" y="189230"/>
                    <a:pt x="9522460" y="422783"/>
                  </a:cubicBezTo>
                  <a:lnTo>
                    <a:pt x="9522460" y="2113661"/>
                  </a:lnTo>
                  <a:cubicBezTo>
                    <a:pt x="9522460" y="2347087"/>
                    <a:pt x="9333230" y="2536444"/>
                    <a:pt x="9099677" y="2536444"/>
                  </a:cubicBezTo>
                  <a:lnTo>
                    <a:pt x="422783" y="2536444"/>
                  </a:lnTo>
                  <a:cubicBezTo>
                    <a:pt x="189230" y="2536444"/>
                    <a:pt x="0" y="2347214"/>
                    <a:pt x="0" y="211366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8915400" y="6364224"/>
            <a:ext cx="54864" cy="1892808"/>
            <a:chOff x="0" y="0"/>
            <a:chExt cx="73152" cy="2523744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3152" cy="2523744"/>
            </a:xfrm>
            <a:custGeom>
              <a:avLst/>
              <a:gdLst/>
              <a:ahLst/>
              <a:cxnLst/>
              <a:rect r="r" b="b" t="t" l="l"/>
              <a:pathLst>
                <a:path h="2523744" w="73152">
                  <a:moveTo>
                    <a:pt x="0" y="0"/>
                  </a:moveTo>
                  <a:lnTo>
                    <a:pt x="73152" y="0"/>
                  </a:lnTo>
                  <a:lnTo>
                    <a:pt x="73152" y="2523744"/>
                  </a:lnTo>
                  <a:lnTo>
                    <a:pt x="0" y="2523744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98" id="98"/>
          <p:cNvSpPr txBox="true"/>
          <p:nvPr/>
        </p:nvSpPr>
        <p:spPr>
          <a:xfrm rot="0">
            <a:off x="9180576" y="6574536"/>
            <a:ext cx="661111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ANALYTICS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180576" y="7141083"/>
            <a:ext cx="6611112" cy="869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QBER calculation, batching and result trace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1481328" y="8705088"/>
            <a:ext cx="14886432" cy="246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Educational simulation only — no quantum hardware or real bank transfers.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8" id="18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0" id="30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0" id="50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2" id="52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4" id="54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Results &amp; Analysis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6" id="66"/>
          <p:cNvSpPr/>
          <p:nvPr/>
        </p:nvSpPr>
        <p:spPr>
          <a:xfrm flipH="false" flipV="false" rot="0">
            <a:off x="886616" y="3355496"/>
            <a:ext cx="9931051" cy="5907691"/>
          </a:xfrm>
          <a:custGeom>
            <a:avLst/>
            <a:gdLst/>
            <a:ahLst/>
            <a:cxnLst/>
            <a:rect r="r" b="b" t="t" l="l"/>
            <a:pathLst>
              <a:path h="5907691" w="9931051">
                <a:moveTo>
                  <a:pt x="0" y="0"/>
                </a:moveTo>
                <a:lnTo>
                  <a:pt x="9931050" y="0"/>
                </a:lnTo>
                <a:lnTo>
                  <a:pt x="9931050" y="5907690"/>
                </a:lnTo>
                <a:lnTo>
                  <a:pt x="0" y="590769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7" id="67"/>
          <p:cNvGrpSpPr/>
          <p:nvPr/>
        </p:nvGrpSpPr>
        <p:grpSpPr>
          <a:xfrm rot="0">
            <a:off x="1280160" y="3749040"/>
            <a:ext cx="9144000" cy="5120640"/>
            <a:chOff x="0" y="0"/>
            <a:chExt cx="12192000" cy="68275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2192000" cy="6827520"/>
            </a:xfrm>
            <a:custGeom>
              <a:avLst/>
              <a:gdLst/>
              <a:ahLst/>
              <a:cxnLst/>
              <a:rect r="r" b="b" t="t" l="l"/>
              <a:pathLst>
                <a:path h="6827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0"/>
                  </a:lnTo>
                  <a:lnTo>
                    <a:pt x="0" y="6827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1900" t="0" r="-2190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280160" y="3699034"/>
            <a:ext cx="9144000" cy="5170646"/>
            <a:chOff x="0" y="0"/>
            <a:chExt cx="12192000" cy="689419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2192000" cy="6894195"/>
            </a:xfrm>
            <a:custGeom>
              <a:avLst/>
              <a:gdLst/>
              <a:ahLst/>
              <a:cxnLst/>
              <a:rect r="r" b="b" t="t" l="l"/>
              <a:pathLst>
                <a:path h="6894195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94195"/>
                  </a:lnTo>
                  <a:lnTo>
                    <a:pt x="0" y="68941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2551" t="0" r="-22551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66675"/>
              <a:ext cx="12192000" cy="69608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8"/>
                </a:lnSpc>
              </a:pPr>
              <a:r>
                <a:rPr lang="en-US" sz="2799" b="true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Insert results</a:t>
              </a:r>
            </a:p>
            <a:p>
              <a:pPr algn="ctr">
                <a:lnSpc>
                  <a:spcPts val="2638"/>
                </a:lnSpc>
              </a:pPr>
              <a:r>
                <a:rPr lang="en-US" sz="2199" i="true">
                  <a:solidFill>
                    <a:srgbClr val="6F739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Histogram, plot or table</a:t>
              </a:r>
            </a:p>
          </p:txBody>
        </p:sp>
      </p:grpSp>
      <p:sp>
        <p:nvSpPr>
          <p:cNvPr name="Freeform 72" id="72"/>
          <p:cNvSpPr/>
          <p:nvPr/>
        </p:nvSpPr>
        <p:spPr>
          <a:xfrm flipH="false" flipV="false" rot="0">
            <a:off x="11139011" y="3366611"/>
            <a:ext cx="6251257" cy="5885497"/>
          </a:xfrm>
          <a:custGeom>
            <a:avLst/>
            <a:gdLst/>
            <a:ahLst/>
            <a:cxnLst/>
            <a:rect r="r" b="b" t="t" l="l"/>
            <a:pathLst>
              <a:path h="5885497" w="6251257">
                <a:moveTo>
                  <a:pt x="0" y="0"/>
                </a:moveTo>
                <a:lnTo>
                  <a:pt x="6251258" y="0"/>
                </a:lnTo>
                <a:lnTo>
                  <a:pt x="625125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1590658" y="3361058"/>
            <a:ext cx="1690402" cy="154210"/>
            <a:chOff x="0" y="0"/>
            <a:chExt cx="2253869" cy="205613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298448" y="3730752"/>
            <a:ext cx="9098280" cy="5056632"/>
            <a:chOff x="0" y="0"/>
            <a:chExt cx="12131040" cy="67421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2131040" cy="6742176"/>
            </a:xfrm>
            <a:custGeom>
              <a:avLst/>
              <a:gdLst/>
              <a:ahLst/>
              <a:cxnLst/>
              <a:rect r="r" b="b" t="t" l="l"/>
              <a:pathLst>
                <a:path h="6742176" w="12131040">
                  <a:moveTo>
                    <a:pt x="0" y="0"/>
                  </a:moveTo>
                  <a:lnTo>
                    <a:pt x="12131040" y="0"/>
                  </a:lnTo>
                  <a:lnTo>
                    <a:pt x="12131040" y="6742176"/>
                  </a:lnTo>
                  <a:lnTo>
                    <a:pt x="0" y="674217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581912" y="4069080"/>
            <a:ext cx="8558784" cy="4046782"/>
            <a:chOff x="0" y="0"/>
            <a:chExt cx="11411712" cy="5395709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1411712" cy="5395722"/>
            </a:xfrm>
            <a:custGeom>
              <a:avLst/>
              <a:gdLst/>
              <a:ahLst/>
              <a:cxnLst/>
              <a:rect r="r" b="b" t="t" l="l"/>
              <a:pathLst>
                <a:path h="5395722" w="11411712">
                  <a:moveTo>
                    <a:pt x="0" y="0"/>
                  </a:moveTo>
                  <a:lnTo>
                    <a:pt x="11411712" y="0"/>
                  </a:lnTo>
                  <a:lnTo>
                    <a:pt x="11411712" y="5395722"/>
                  </a:lnTo>
                  <a:lnTo>
                    <a:pt x="0" y="5395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-1168" r="0" b="-1168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1631168" y="3703320"/>
            <a:ext cx="5303520" cy="5093208"/>
            <a:chOff x="0" y="0"/>
            <a:chExt cx="7071360" cy="679094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071360" cy="6790944"/>
            </a:xfrm>
            <a:custGeom>
              <a:avLst/>
              <a:gdLst/>
              <a:ahLst/>
              <a:cxnLst/>
              <a:rect r="r" b="b" t="t" l="l"/>
              <a:pathLst>
                <a:path h="6790944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6790944"/>
                  </a:lnTo>
                  <a:lnTo>
                    <a:pt x="0" y="6790944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11850624" y="3895344"/>
            <a:ext cx="4645152" cy="384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Expected BB84 behaviour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905488" y="4690872"/>
            <a:ext cx="455371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IDEAL CLEAN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1905488" y="4992243"/>
            <a:ext cx="4553712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0% QBER in noise-free model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1905488" y="5522976"/>
            <a:ext cx="455371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FULL EVE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1905488" y="5824347"/>
            <a:ext cx="4553712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≈25% expected sifted QBER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1905488" y="6355080"/>
            <a:ext cx="455371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50% EVE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905488" y="6656451"/>
            <a:ext cx="4553712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≈12.5% expected sifted QBER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905488" y="7187184"/>
            <a:ext cx="4553712" cy="18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NOISE ONLY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1905488" y="7488555"/>
            <a:ext cx="4553712" cy="329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17252F"/>
                </a:solidFill>
                <a:latin typeface="Inter"/>
                <a:ea typeface="Inter"/>
                <a:cs typeface="Inter"/>
                <a:sym typeface="Inter"/>
              </a:rPr>
              <a:t>Disturbance without Eve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11905488" y="8174355"/>
            <a:ext cx="4507992" cy="356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"/>
              </a:lnSpc>
            </a:pPr>
            <a:r>
              <a:rPr lang="en-US" sz="1100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Theoretical expectations, not measured benchmark data.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1" id="51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3" id="53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5" id="55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Impact &amp; Real-World Applications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897731" y="3366611"/>
            <a:ext cx="16492538" cy="5885497"/>
          </a:xfrm>
          <a:custGeom>
            <a:avLst/>
            <a:gdLst/>
            <a:ahLst/>
            <a:cxnLst/>
            <a:rect r="r" b="b" t="t" l="l"/>
            <a:pathLst>
              <a:path h="5885497" w="16492538">
                <a:moveTo>
                  <a:pt x="0" y="0"/>
                </a:moveTo>
                <a:lnTo>
                  <a:pt x="16492538" y="0"/>
                </a:lnTo>
                <a:lnTo>
                  <a:pt x="1649253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349378" y="3361058"/>
            <a:ext cx="1690402" cy="154210"/>
            <a:chOff x="0" y="0"/>
            <a:chExt cx="2253869" cy="2056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8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72184" y="3593592"/>
            <a:ext cx="14977872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FINTECH RELEVANCE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472184" y="4233672"/>
            <a:ext cx="15252192" cy="71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A safer learning pathway for payment-channel security.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1417320" y="5321808"/>
            <a:ext cx="3721608" cy="2286000"/>
            <a:chOff x="0" y="0"/>
            <a:chExt cx="4962144" cy="3048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4962144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62144">
                  <a:moveTo>
                    <a:pt x="0" y="508000"/>
                  </a:moveTo>
                  <a:cubicBezTo>
                    <a:pt x="0" y="227457"/>
                    <a:pt x="227457" y="0"/>
                    <a:pt x="508000" y="0"/>
                  </a:cubicBezTo>
                  <a:lnTo>
                    <a:pt x="4454144" y="0"/>
                  </a:lnTo>
                  <a:cubicBezTo>
                    <a:pt x="4734687" y="0"/>
                    <a:pt x="4962144" y="227457"/>
                    <a:pt x="4962144" y="508000"/>
                  </a:cubicBezTo>
                  <a:lnTo>
                    <a:pt x="4962144" y="2540000"/>
                  </a:lnTo>
                  <a:cubicBezTo>
                    <a:pt x="4962144" y="2820543"/>
                    <a:pt x="4734687" y="3048000"/>
                    <a:pt x="4454144" y="3048000"/>
                  </a:cubicBezTo>
                  <a:lnTo>
                    <a:pt x="508000" y="3048000"/>
                  </a:lnTo>
                  <a:cubicBezTo>
                    <a:pt x="227457" y="3048000"/>
                    <a:pt x="0" y="2820543"/>
                    <a:pt x="0" y="2540000"/>
                  </a:cubicBezTo>
                  <a:close/>
                </a:path>
              </a:pathLst>
            </a:custGeom>
            <a:solidFill>
              <a:srgbClr val="17252F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1655064" y="5623560"/>
            <a:ext cx="328269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5F2EA"/>
                </a:solidFill>
                <a:latin typeface="Inter Bold"/>
                <a:ea typeface="Inter Bold"/>
                <a:cs typeface="Inter Bold"/>
                <a:sym typeface="Inter Bold"/>
              </a:rPr>
              <a:t>Mock payment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655064" y="6263640"/>
            <a:ext cx="3255264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AD5"/>
                </a:solidFill>
                <a:latin typeface="Inter"/>
                <a:ea typeface="Inter"/>
                <a:cs typeface="Inter"/>
                <a:sym typeface="Inter"/>
              </a:rPr>
              <a:t>A simulated transaction starts a security session.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5404104" y="5321808"/>
            <a:ext cx="3721608" cy="2286000"/>
            <a:chOff x="0" y="0"/>
            <a:chExt cx="4962144" cy="30480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4962144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62144">
                  <a:moveTo>
                    <a:pt x="0" y="508000"/>
                  </a:moveTo>
                  <a:cubicBezTo>
                    <a:pt x="0" y="227457"/>
                    <a:pt x="227457" y="0"/>
                    <a:pt x="508000" y="0"/>
                  </a:cubicBezTo>
                  <a:lnTo>
                    <a:pt x="4454144" y="0"/>
                  </a:lnTo>
                  <a:cubicBezTo>
                    <a:pt x="4734687" y="0"/>
                    <a:pt x="4962144" y="227457"/>
                    <a:pt x="4962144" y="508000"/>
                  </a:cubicBezTo>
                  <a:lnTo>
                    <a:pt x="4962144" y="2540000"/>
                  </a:lnTo>
                  <a:cubicBezTo>
                    <a:pt x="4962144" y="2820543"/>
                    <a:pt x="4734687" y="3048000"/>
                    <a:pt x="4454144" y="3048000"/>
                  </a:cubicBezTo>
                  <a:lnTo>
                    <a:pt x="508000" y="3048000"/>
                  </a:lnTo>
                  <a:cubicBezTo>
                    <a:pt x="227457" y="3048000"/>
                    <a:pt x="0" y="2820543"/>
                    <a:pt x="0" y="2540000"/>
                  </a:cubicBezTo>
                  <a:close/>
                </a:path>
              </a:pathLst>
            </a:custGeom>
            <a:solidFill>
              <a:srgbClr val="17252F"/>
            </a:solid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5641848" y="5623560"/>
            <a:ext cx="328269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5F2EA"/>
                </a:solidFill>
                <a:latin typeface="Inter Bold"/>
                <a:ea typeface="Inter Bold"/>
                <a:cs typeface="Inter Bold"/>
                <a:sym typeface="Inter Bold"/>
              </a:rPr>
              <a:t>BB84 experiment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641848" y="6263640"/>
            <a:ext cx="3255264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AD5"/>
                </a:solidFill>
                <a:latin typeface="Inter"/>
                <a:ea typeface="Inter"/>
                <a:cs typeface="Inter"/>
                <a:sym typeface="Inter"/>
              </a:rPr>
              <a:t>Alice/Bob exchange with configurable Eve and noise.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9390888" y="5321808"/>
            <a:ext cx="3721608" cy="2286000"/>
            <a:chOff x="0" y="0"/>
            <a:chExt cx="4962144" cy="30480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4962144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62144">
                  <a:moveTo>
                    <a:pt x="0" y="508000"/>
                  </a:moveTo>
                  <a:cubicBezTo>
                    <a:pt x="0" y="227457"/>
                    <a:pt x="227457" y="0"/>
                    <a:pt x="508000" y="0"/>
                  </a:cubicBezTo>
                  <a:lnTo>
                    <a:pt x="4454144" y="0"/>
                  </a:lnTo>
                  <a:cubicBezTo>
                    <a:pt x="4734687" y="0"/>
                    <a:pt x="4962144" y="227457"/>
                    <a:pt x="4962144" y="508000"/>
                  </a:cubicBezTo>
                  <a:lnTo>
                    <a:pt x="4962144" y="2540000"/>
                  </a:lnTo>
                  <a:cubicBezTo>
                    <a:pt x="4962144" y="2820543"/>
                    <a:pt x="4734687" y="3048000"/>
                    <a:pt x="4454144" y="3048000"/>
                  </a:cubicBezTo>
                  <a:lnTo>
                    <a:pt x="508000" y="3048000"/>
                  </a:lnTo>
                  <a:cubicBezTo>
                    <a:pt x="227457" y="3048000"/>
                    <a:pt x="0" y="2820543"/>
                    <a:pt x="0" y="2540000"/>
                  </a:cubicBezTo>
                  <a:close/>
                </a:path>
              </a:pathLst>
            </a:custGeom>
            <a:solidFill>
              <a:srgbClr val="17252F"/>
            </a:solidFill>
          </p:spPr>
        </p:sp>
      </p:grpSp>
      <p:sp>
        <p:nvSpPr>
          <p:cNvPr name="TextBox 87" id="87"/>
          <p:cNvSpPr txBox="true"/>
          <p:nvPr/>
        </p:nvSpPr>
        <p:spPr>
          <a:xfrm rot="0">
            <a:off x="9628632" y="5623560"/>
            <a:ext cx="328269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5F2EA"/>
                </a:solidFill>
                <a:latin typeface="Inter Bold"/>
                <a:ea typeface="Inter Bold"/>
                <a:cs typeface="Inter Bold"/>
                <a:sym typeface="Inter Bold"/>
              </a:rPr>
              <a:t>QBER test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9628632" y="6263640"/>
            <a:ext cx="3255264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AD5"/>
                </a:solidFill>
                <a:latin typeface="Inter"/>
                <a:ea typeface="Inter"/>
                <a:cs typeface="Inter"/>
                <a:sym typeface="Inter"/>
              </a:rPr>
              <a:t>Measured sample is compared to an explicit threshold.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3377672" y="5321808"/>
            <a:ext cx="3721608" cy="2286000"/>
            <a:chOff x="0" y="0"/>
            <a:chExt cx="4962144" cy="3048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962144" cy="3048000"/>
            </a:xfrm>
            <a:custGeom>
              <a:avLst/>
              <a:gdLst/>
              <a:ahLst/>
              <a:cxnLst/>
              <a:rect r="r" b="b" t="t" l="l"/>
              <a:pathLst>
                <a:path h="3048000" w="4962144">
                  <a:moveTo>
                    <a:pt x="0" y="508000"/>
                  </a:moveTo>
                  <a:cubicBezTo>
                    <a:pt x="0" y="227457"/>
                    <a:pt x="227457" y="0"/>
                    <a:pt x="508000" y="0"/>
                  </a:cubicBezTo>
                  <a:lnTo>
                    <a:pt x="4454144" y="0"/>
                  </a:lnTo>
                  <a:cubicBezTo>
                    <a:pt x="4734687" y="0"/>
                    <a:pt x="4962144" y="227457"/>
                    <a:pt x="4962144" y="508000"/>
                  </a:cubicBezTo>
                  <a:lnTo>
                    <a:pt x="4962144" y="2540000"/>
                  </a:lnTo>
                  <a:cubicBezTo>
                    <a:pt x="4962144" y="2820543"/>
                    <a:pt x="4734687" y="3048000"/>
                    <a:pt x="4454144" y="3048000"/>
                  </a:cubicBezTo>
                  <a:lnTo>
                    <a:pt x="508000" y="3048000"/>
                  </a:lnTo>
                  <a:cubicBezTo>
                    <a:pt x="227457" y="3048000"/>
                    <a:pt x="0" y="2820543"/>
                    <a:pt x="0" y="2540000"/>
                  </a:cubicBezTo>
                  <a:close/>
                </a:path>
              </a:pathLst>
            </a:custGeom>
            <a:solidFill>
              <a:srgbClr val="17252F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3615416" y="5623560"/>
            <a:ext cx="3282696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F5F2EA"/>
                </a:solidFill>
                <a:latin typeface="Inter Bold"/>
                <a:ea typeface="Inter Bold"/>
                <a:cs typeface="Inter Bold"/>
                <a:sym typeface="Inter Bold"/>
              </a:rPr>
              <a:t>Independent checks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3615416" y="6263640"/>
            <a:ext cx="3255264" cy="1005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C9DAD5"/>
                </a:solidFill>
                <a:latin typeface="Inter"/>
                <a:ea typeface="Inter"/>
                <a:cs typeface="Inter"/>
                <a:sym typeface="Inter"/>
              </a:rPr>
              <a:t>Separate mock authentication remains necessary.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481328" y="8101203"/>
            <a:ext cx="15115032" cy="64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QORVEX does not authorize real transactions. It demonstrates how sampled quantum-channel disturbance can inform one layer of a broader security workflow.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819120" y="1645920"/>
            <a:ext cx="1554480" cy="1554480"/>
            <a:chOff x="0" y="0"/>
            <a:chExt cx="2072640" cy="2072640"/>
          </a:xfrm>
        </p:grpSpPr>
        <p:sp>
          <p:nvSpPr>
            <p:cNvPr name="Freeform 51" id="51" descr="sphere.png"/>
            <p:cNvSpPr/>
            <p:nvPr/>
          </p:nvSpPr>
          <p:spPr>
            <a:xfrm flipH="false" flipV="false" rot="0">
              <a:off x="0" y="0"/>
              <a:ext cx="207264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2072640"/>
                  </a:lnTo>
                  <a:lnTo>
                    <a:pt x="0" y="2072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4173200" y="1737360"/>
            <a:ext cx="1097280" cy="658368"/>
            <a:chOff x="0" y="0"/>
            <a:chExt cx="1463040" cy="877824"/>
          </a:xfrm>
        </p:grpSpPr>
        <p:sp>
          <p:nvSpPr>
            <p:cNvPr name="Freeform 53" id="53" descr="bird1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3807440" y="2523744"/>
            <a:ext cx="768096" cy="457200"/>
            <a:chOff x="0" y="0"/>
            <a:chExt cx="1024128" cy="609600"/>
          </a:xfrm>
        </p:grpSpPr>
        <p:sp>
          <p:nvSpPr>
            <p:cNvPr name="Freeform 55" id="55" descr="bird2.png"/>
            <p:cNvSpPr/>
            <p:nvPr/>
          </p:nvSpPr>
          <p:spPr>
            <a:xfrm flipH="false" flipV="false" rot="0">
              <a:off x="0" y="0"/>
              <a:ext cx="1024128" cy="609600"/>
            </a:xfrm>
            <a:custGeom>
              <a:avLst/>
              <a:gdLst/>
              <a:ahLst/>
              <a:cxnLst/>
              <a:rect r="r" b="b" t="t" l="l"/>
              <a:pathLst>
                <a:path h="609600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400" r="0" b="-40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14400" y="1682496"/>
            <a:ext cx="12618720" cy="1188720"/>
            <a:chOff x="0" y="0"/>
            <a:chExt cx="168249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6824961" cy="1584960"/>
            </a:xfrm>
            <a:custGeom>
              <a:avLst/>
              <a:gdLst/>
              <a:ahLst/>
              <a:cxnLst/>
              <a:rect r="r" b="b" t="t" l="l"/>
              <a:pathLst>
                <a:path h="1584960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697" r="0" b="-15669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914400" y="1675352"/>
            <a:ext cx="12618720" cy="1195864"/>
            <a:chOff x="0" y="0"/>
            <a:chExt cx="16824960" cy="1594485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6824961" cy="1594485"/>
            </a:xfrm>
            <a:custGeom>
              <a:avLst/>
              <a:gdLst/>
              <a:ahLst/>
              <a:cxnLst/>
              <a:rect r="r" b="b" t="t" l="l"/>
              <a:pathLst>
                <a:path h="1594485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1594485"/>
                  </a:lnTo>
                  <a:lnTo>
                    <a:pt x="0" y="159448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55605" r="0" b="-155605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16824960" cy="16040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1B5B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Challenges &amp; Future Scope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892178" y="2903858"/>
            <a:ext cx="556546" cy="135922"/>
            <a:chOff x="0" y="0"/>
            <a:chExt cx="742061" cy="181229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1440818" y="2903858"/>
            <a:ext cx="556546" cy="135922"/>
            <a:chOff x="0" y="0"/>
            <a:chExt cx="742061" cy="181229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989458" y="2903858"/>
            <a:ext cx="556546" cy="135922"/>
            <a:chOff x="0" y="0"/>
            <a:chExt cx="742061" cy="18122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42061" cy="181229"/>
            </a:xfrm>
            <a:custGeom>
              <a:avLst/>
              <a:gdLst/>
              <a:ahLst/>
              <a:cxnLst/>
              <a:rect r="r" b="b" t="t" l="l"/>
              <a:pathLst>
                <a:path h="181229" w="742061">
                  <a:moveTo>
                    <a:pt x="0" y="0"/>
                  </a:moveTo>
                  <a:lnTo>
                    <a:pt x="742061" y="0"/>
                  </a:lnTo>
                  <a:lnTo>
                    <a:pt x="742061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sp>
        <p:nvSpPr>
          <p:cNvPr name="Freeform 67" id="67"/>
          <p:cNvSpPr/>
          <p:nvPr/>
        </p:nvSpPr>
        <p:spPr>
          <a:xfrm flipH="false" flipV="false" rot="0">
            <a:off x="897731" y="3366611"/>
            <a:ext cx="16492538" cy="5885497"/>
          </a:xfrm>
          <a:custGeom>
            <a:avLst/>
            <a:gdLst/>
            <a:ahLst/>
            <a:cxnLst/>
            <a:rect r="r" b="b" t="t" l="l"/>
            <a:pathLst>
              <a:path h="5885497" w="16492538">
                <a:moveTo>
                  <a:pt x="0" y="0"/>
                </a:moveTo>
                <a:lnTo>
                  <a:pt x="16492538" y="0"/>
                </a:lnTo>
                <a:lnTo>
                  <a:pt x="16492538" y="5885498"/>
                </a:lnTo>
                <a:lnTo>
                  <a:pt x="0" y="588549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349378" y="3361058"/>
            <a:ext cx="1690402" cy="154210"/>
            <a:chOff x="0" y="0"/>
            <a:chExt cx="2253869" cy="20561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53869" cy="205613"/>
            </a:xfrm>
            <a:custGeom>
              <a:avLst/>
              <a:gdLst/>
              <a:ahLst/>
              <a:cxnLst/>
              <a:rect r="r" b="b" t="t" l="l"/>
              <a:pathLst>
                <a:path h="205613" w="2253869">
                  <a:moveTo>
                    <a:pt x="0" y="0"/>
                  </a:moveTo>
                  <a:lnTo>
                    <a:pt x="2253869" y="0"/>
                  </a:lnTo>
                  <a:lnTo>
                    <a:pt x="2253869" y="205613"/>
                  </a:lnTo>
                  <a:lnTo>
                    <a:pt x="0" y="205613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6642080" y="9729216"/>
            <a:ext cx="731520" cy="548640"/>
            <a:chOff x="0" y="0"/>
            <a:chExt cx="97536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7536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94" t="0" r="-46295" b="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642080" y="9700641"/>
            <a:ext cx="731520" cy="577215"/>
            <a:chOff x="0" y="0"/>
            <a:chExt cx="975360" cy="7696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75360" cy="769620"/>
            </a:xfrm>
            <a:custGeom>
              <a:avLst/>
              <a:gdLst/>
              <a:ahLst/>
              <a:cxnLst/>
              <a:rect r="r" b="b" t="t" l="l"/>
              <a:pathLst>
                <a:path h="76962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1239" t="0" r="-51239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9753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</a:t>
              </a: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472184" y="3593592"/>
            <a:ext cx="14977872" cy="320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WHAT WE LEARNED / NEXT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1412558" y="4128326"/>
            <a:ext cx="7160133" cy="4188333"/>
            <a:chOff x="0" y="0"/>
            <a:chExt cx="9546844" cy="55844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546844" cy="5584444"/>
            </a:xfrm>
            <a:custGeom>
              <a:avLst/>
              <a:gdLst/>
              <a:ahLst/>
              <a:cxnLst/>
              <a:rect r="r" b="b" t="t" l="l"/>
              <a:pathLst>
                <a:path h="5584444" w="9546844">
                  <a:moveTo>
                    <a:pt x="0" y="930783"/>
                  </a:moveTo>
                  <a:cubicBezTo>
                    <a:pt x="0" y="416687"/>
                    <a:pt x="416687" y="0"/>
                    <a:pt x="930783" y="0"/>
                  </a:cubicBezTo>
                  <a:lnTo>
                    <a:pt x="8616061" y="0"/>
                  </a:lnTo>
                  <a:cubicBezTo>
                    <a:pt x="9130157" y="0"/>
                    <a:pt x="9546844" y="416687"/>
                    <a:pt x="9546844" y="930783"/>
                  </a:cubicBezTo>
                  <a:lnTo>
                    <a:pt x="9546844" y="4653661"/>
                  </a:lnTo>
                  <a:cubicBezTo>
                    <a:pt x="9546844" y="5167757"/>
                    <a:pt x="9130157" y="5584444"/>
                    <a:pt x="8616061" y="5584444"/>
                  </a:cubicBezTo>
                  <a:lnTo>
                    <a:pt x="930783" y="5584444"/>
                  </a:lnTo>
                  <a:cubicBezTo>
                    <a:pt x="416687" y="5584444"/>
                    <a:pt x="0" y="5167757"/>
                    <a:pt x="0" y="465366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1417320" y="4133088"/>
            <a:ext cx="54864" cy="4178808"/>
            <a:chOff x="0" y="0"/>
            <a:chExt cx="73152" cy="55717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73152" cy="5571744"/>
            </a:xfrm>
            <a:custGeom>
              <a:avLst/>
              <a:gdLst/>
              <a:ahLst/>
              <a:cxnLst/>
              <a:rect r="r" b="b" t="t" l="l"/>
              <a:pathLst>
                <a:path h="5571744" w="73152">
                  <a:moveTo>
                    <a:pt x="0" y="0"/>
                  </a:moveTo>
                  <a:lnTo>
                    <a:pt x="73152" y="0"/>
                  </a:lnTo>
                  <a:lnTo>
                    <a:pt x="73152" y="5571744"/>
                  </a:lnTo>
                  <a:lnTo>
                    <a:pt x="0" y="5571744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0" id="80"/>
          <p:cNvSpPr txBox="true"/>
          <p:nvPr/>
        </p:nvSpPr>
        <p:spPr>
          <a:xfrm rot="0">
            <a:off x="1700584" y="4466082"/>
            <a:ext cx="6935934" cy="401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5"/>
              </a:lnSpc>
            </a:pPr>
            <a:r>
              <a:rPr lang="en-US" sz="1987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Key challenges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1682496" y="5107305"/>
            <a:ext cx="8345035" cy="395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5"/>
              </a:lnSpc>
            </a:pPr>
            <a:r>
              <a:rPr lang="en-US" sz="1888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Finite-sample uncertainty can hide attacks.</a:t>
            </a:r>
          </a:p>
          <a:p>
            <a:pPr algn="l">
              <a:lnSpc>
                <a:spcPts val="2265"/>
              </a:lnSpc>
            </a:pPr>
            <a:r>
              <a:rPr lang="en-US" sz="1888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Noise raises QBER without an attacker.</a:t>
            </a:r>
          </a:p>
          <a:p>
            <a:pPr algn="l">
              <a:lnSpc>
                <a:spcPts val="2265"/>
              </a:lnSpc>
            </a:pPr>
            <a:r>
              <a:rPr lang="en-US" sz="1888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A passing QBER test cannot establish transaction legitimacy.</a:t>
            </a:r>
          </a:p>
        </p:txBody>
      </p:sp>
      <p:grpSp>
        <p:nvGrpSpPr>
          <p:cNvPr name="Group 82" id="82"/>
          <p:cNvGrpSpPr/>
          <p:nvPr/>
        </p:nvGrpSpPr>
        <p:grpSpPr>
          <a:xfrm rot="0">
            <a:off x="8864918" y="4128326"/>
            <a:ext cx="7361301" cy="4188333"/>
            <a:chOff x="0" y="0"/>
            <a:chExt cx="9815068" cy="55844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815068" cy="5584444"/>
            </a:xfrm>
            <a:custGeom>
              <a:avLst/>
              <a:gdLst/>
              <a:ahLst/>
              <a:cxnLst/>
              <a:rect r="r" b="b" t="t" l="l"/>
              <a:pathLst>
                <a:path h="5584444" w="9815068">
                  <a:moveTo>
                    <a:pt x="0" y="930783"/>
                  </a:moveTo>
                  <a:cubicBezTo>
                    <a:pt x="0" y="416687"/>
                    <a:pt x="416687" y="0"/>
                    <a:pt x="930783" y="0"/>
                  </a:cubicBezTo>
                  <a:lnTo>
                    <a:pt x="8884285" y="0"/>
                  </a:lnTo>
                  <a:cubicBezTo>
                    <a:pt x="9398381" y="0"/>
                    <a:pt x="9815068" y="416687"/>
                    <a:pt x="9815068" y="930783"/>
                  </a:cubicBezTo>
                  <a:lnTo>
                    <a:pt x="9815068" y="4653661"/>
                  </a:lnTo>
                  <a:cubicBezTo>
                    <a:pt x="9815068" y="5167757"/>
                    <a:pt x="9398381" y="5584444"/>
                    <a:pt x="8884285" y="5584444"/>
                  </a:cubicBezTo>
                  <a:lnTo>
                    <a:pt x="930783" y="5584444"/>
                  </a:lnTo>
                  <a:cubicBezTo>
                    <a:pt x="416687" y="5584444"/>
                    <a:pt x="0" y="5167757"/>
                    <a:pt x="0" y="4653661"/>
                  </a:cubicBezTo>
                  <a:close/>
                </a:path>
              </a:pathLst>
            </a:custGeom>
            <a:solidFill>
              <a:srgbClr val="F4F6F5"/>
            </a:solidFill>
            <a:ln w="9525" cap="sq">
              <a:solidFill>
                <a:srgbClr val="DDE5E2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8869680" y="4133088"/>
            <a:ext cx="54864" cy="4178808"/>
            <a:chOff x="0" y="0"/>
            <a:chExt cx="73152" cy="557174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73152" cy="5571744"/>
            </a:xfrm>
            <a:custGeom>
              <a:avLst/>
              <a:gdLst/>
              <a:ahLst/>
              <a:cxnLst/>
              <a:rect r="r" b="b" t="t" l="l"/>
              <a:pathLst>
                <a:path h="5571744" w="73152">
                  <a:moveTo>
                    <a:pt x="0" y="0"/>
                  </a:moveTo>
                  <a:lnTo>
                    <a:pt x="73152" y="0"/>
                  </a:lnTo>
                  <a:lnTo>
                    <a:pt x="73152" y="5571744"/>
                  </a:lnTo>
                  <a:lnTo>
                    <a:pt x="0" y="5571744"/>
                  </a:lnTo>
                  <a:close/>
                </a:path>
              </a:pathLst>
            </a:custGeom>
            <a:solidFill>
              <a:srgbClr val="477C78"/>
            </a:solidFill>
          </p:spPr>
        </p:sp>
      </p:grpSp>
      <p:sp>
        <p:nvSpPr>
          <p:cNvPr name="TextBox 86" id="86"/>
          <p:cNvSpPr txBox="true"/>
          <p:nvPr/>
        </p:nvSpPr>
        <p:spPr>
          <a:xfrm rot="0">
            <a:off x="9162307" y="4446296"/>
            <a:ext cx="7328906" cy="421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6"/>
              </a:lnSpc>
            </a:pPr>
            <a:r>
              <a:rPr lang="en-US" sz="2038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Future development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134856" y="5051298"/>
            <a:ext cx="8421624" cy="3887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Authenticated classical communication.</a:t>
            </a:r>
          </a:p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Error reconciliation and privacy amplification.</a:t>
            </a:r>
          </a:p>
          <a:p>
            <a:pPr algn="l">
              <a:lnSpc>
                <a:spcPts val="2219"/>
              </a:lnSpc>
            </a:pPr>
            <a:r>
              <a:rPr lang="en-US" sz="1849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Optional quantum-circuit / Qiskit model; formal benchmarking.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DE2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2222" y="-22222"/>
            <a:ext cx="18332482" cy="1361218"/>
            <a:chOff x="0" y="0"/>
            <a:chExt cx="24443309" cy="18149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43310" cy="1814957"/>
            </a:xfrm>
            <a:custGeom>
              <a:avLst/>
              <a:gdLst/>
              <a:ahLst/>
              <a:cxnLst/>
              <a:rect r="r" b="b" t="t" l="l"/>
              <a:pathLst>
                <a:path h="18149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1814957"/>
                  </a:lnTo>
                  <a:lnTo>
                    <a:pt x="0" y="18149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22222" y="1294514"/>
            <a:ext cx="6152674" cy="135922"/>
            <a:chOff x="0" y="0"/>
            <a:chExt cx="8203565" cy="18122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6085970" y="1294514"/>
            <a:ext cx="6152674" cy="135922"/>
            <a:chOff x="0" y="0"/>
            <a:chExt cx="8203565" cy="1812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2175874" y="1294514"/>
            <a:ext cx="6152674" cy="135922"/>
            <a:chOff x="0" y="0"/>
            <a:chExt cx="8203565" cy="18122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203565" cy="181229"/>
            </a:xfrm>
            <a:custGeom>
              <a:avLst/>
              <a:gdLst/>
              <a:ahLst/>
              <a:cxnLst/>
              <a:rect r="r" b="b" t="t" l="l"/>
              <a:pathLst>
                <a:path h="181229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81229"/>
                  </a:lnTo>
                  <a:lnTo>
                    <a:pt x="0" y="181229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731520" y="182880"/>
            <a:ext cx="950976" cy="950976"/>
            <a:chOff x="0" y="0"/>
            <a:chExt cx="1267968" cy="1267968"/>
          </a:xfrm>
        </p:grpSpPr>
        <p:sp>
          <p:nvSpPr>
            <p:cNvPr name="Freeform 11" id="11" descr="vtu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4627" r="0" b="-20462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865376" y="182880"/>
            <a:ext cx="6217920" cy="475488"/>
            <a:chOff x="0" y="0"/>
            <a:chExt cx="8290560" cy="63398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90560" cy="633984"/>
            </a:xfrm>
            <a:custGeom>
              <a:avLst/>
              <a:gdLst/>
              <a:ahLst/>
              <a:cxnLst/>
              <a:rect r="r" b="b" t="t" l="l"/>
              <a:pathLst>
                <a:path h="633984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4804" r="0" b="-20480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8290560" cy="63398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2279"/>
                </a:lnSpc>
              </a:pPr>
              <a:r>
                <a:rPr lang="en-US" sz="1899" b="true">
                  <a:solidFill>
                    <a:srgbClr val="2E1B5B"/>
                  </a:solidFill>
                  <a:latin typeface="Nirmala UI Bold"/>
                  <a:ea typeface="Nirmala UI Bold"/>
                  <a:cs typeface="Nirmala UI Bold"/>
                  <a:sym typeface="Nirmala UI Bold"/>
                </a:rPr>
                <a:t>ವಿಶ್ವೇಶ್ವರಯ್ಯ ತಾಂತ್ರಿಕ ವಿಶ್ವವಿದ್ಯಾಲಯ, ಬೆಳಗಾವಿ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865376" y="600456"/>
            <a:ext cx="6217920" cy="551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 b="true">
                <a:solidFill>
                  <a:srgbClr val="2E1B5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Visvesvaraya Technological University, Belagavi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522208" y="182880"/>
            <a:ext cx="1225296" cy="950976"/>
            <a:chOff x="0" y="0"/>
            <a:chExt cx="1633728" cy="1267968"/>
          </a:xfrm>
        </p:grpSpPr>
        <p:sp>
          <p:nvSpPr>
            <p:cNvPr name="Freeform 19" id="19" descr="quc_d.png"/>
            <p:cNvSpPr/>
            <p:nvPr/>
          </p:nvSpPr>
          <p:spPr>
            <a:xfrm flipH="false" flipV="false" rot="0">
              <a:off x="0" y="0"/>
              <a:ext cx="163372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633728">
                  <a:moveTo>
                    <a:pt x="0" y="0"/>
                  </a:moveTo>
                  <a:lnTo>
                    <a:pt x="1633728" y="0"/>
                  </a:lnTo>
                  <a:lnTo>
                    <a:pt x="163372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55" t="0" r="-355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789920" y="219456"/>
            <a:ext cx="5577840" cy="512064"/>
            <a:chOff x="0" y="0"/>
            <a:chExt cx="743712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682752"/>
            </a:xfrm>
            <a:custGeom>
              <a:avLst/>
              <a:gdLst/>
              <a:ahLst/>
              <a:cxnLst/>
              <a:rect r="r" b="b" t="t" l="l"/>
              <a:pathLst>
                <a:path h="682752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2100" r="0" b="-16210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789920" y="183737"/>
            <a:ext cx="5577840" cy="547783"/>
            <a:chOff x="0" y="0"/>
            <a:chExt cx="7437120" cy="7303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437120" cy="730377"/>
            </a:xfrm>
            <a:custGeom>
              <a:avLst/>
              <a:gdLst/>
              <a:ahLst/>
              <a:cxnLst/>
              <a:rect r="r" b="b" t="t" l="l"/>
              <a:pathLst>
                <a:path h="730377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0377"/>
                  </a:lnTo>
                  <a:lnTo>
                    <a:pt x="0" y="730377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48407" r="0" b="-14840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7437120" cy="7780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638"/>
                </a:lnSpc>
              </a:pPr>
              <a:r>
                <a:rPr lang="en-US" b="true" sz="2199" spc="398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789920" y="731520"/>
            <a:ext cx="5577840" cy="402336"/>
            <a:chOff x="0" y="0"/>
            <a:chExt cx="7437120" cy="5364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437120" cy="536448"/>
            </a:xfrm>
            <a:custGeom>
              <a:avLst/>
              <a:gdLst/>
              <a:ahLst/>
              <a:cxnLst/>
              <a:rect r="r" b="b" t="t" l="l"/>
              <a:pathLst>
                <a:path h="5364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9945" r="0" b="-21994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0789920" y="702945"/>
            <a:ext cx="5577840" cy="430911"/>
            <a:chOff x="0" y="0"/>
            <a:chExt cx="7437120" cy="5745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437120" cy="574548"/>
            </a:xfrm>
            <a:custGeom>
              <a:avLst/>
              <a:gdLst/>
              <a:ahLst/>
              <a:cxnLst/>
              <a:rect r="r" b="b" t="t" l="l"/>
              <a:pathLst>
                <a:path h="574548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574548"/>
                  </a:lnTo>
                  <a:lnTo>
                    <a:pt x="0" y="574548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2220" r="0" b="-20222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7437120" cy="6126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279"/>
                </a:lnSpc>
              </a:pPr>
              <a:r>
                <a:rPr lang="en-US" b="true" sz="1899" spc="199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IBM Quantum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605504" y="182880"/>
            <a:ext cx="950976" cy="950976"/>
            <a:chOff x="0" y="0"/>
            <a:chExt cx="1267968" cy="1267968"/>
          </a:xfrm>
        </p:grpSpPr>
        <p:sp>
          <p:nvSpPr>
            <p:cNvPr name="Freeform 31" id="31" descr="badge_c.png"/>
            <p:cNvSpPr/>
            <p:nvPr/>
          </p:nvSpPr>
          <p:spPr>
            <a:xfrm flipH="false" flipV="false" rot="0">
              <a:off x="0" y="0"/>
              <a:ext cx="1267968" cy="1267968"/>
            </a:xfrm>
            <a:custGeom>
              <a:avLst/>
              <a:gdLst/>
              <a:ahLst/>
              <a:cxnLst/>
              <a:rect r="r" b="b" t="t" l="l"/>
              <a:pathLst>
                <a:path h="1267968" w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-22222" y="9633842"/>
            <a:ext cx="18332482" cy="675418"/>
            <a:chOff x="0" y="0"/>
            <a:chExt cx="24443309" cy="90055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4443310" cy="900557"/>
            </a:xfrm>
            <a:custGeom>
              <a:avLst/>
              <a:gdLst/>
              <a:ahLst/>
              <a:cxnLst/>
              <a:rect r="r" b="b" t="t" l="l"/>
              <a:pathLst>
                <a:path h="900557" w="24443310">
                  <a:moveTo>
                    <a:pt x="0" y="0"/>
                  </a:moveTo>
                  <a:lnTo>
                    <a:pt x="24443310" y="0"/>
                  </a:lnTo>
                  <a:lnTo>
                    <a:pt x="24443310" y="900557"/>
                  </a:lnTo>
                  <a:lnTo>
                    <a:pt x="0" y="900557"/>
                  </a:lnTo>
                  <a:close/>
                </a:path>
              </a:pathLst>
            </a:custGeom>
            <a:solidFill>
              <a:srgbClr val="CBD1F5"/>
            </a:solidFill>
            <a:ln w="25400" cap="sq">
              <a:solidFill>
                <a:srgbClr val="CBD1F5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-22222" y="9633842"/>
            <a:ext cx="6152674" cy="117634"/>
            <a:chOff x="0" y="0"/>
            <a:chExt cx="8203565" cy="15684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7C93F0"/>
            </a:solidFill>
            <a:ln w="25400" cap="sq">
              <a:solidFill>
                <a:srgbClr val="7C93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6085970" y="9633842"/>
            <a:ext cx="6152674" cy="117634"/>
            <a:chOff x="0" y="0"/>
            <a:chExt cx="8203565" cy="15684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E8639F"/>
            </a:solidFill>
            <a:ln w="25400" cap="sq">
              <a:solidFill>
                <a:srgbClr val="E8639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175874" y="9633842"/>
            <a:ext cx="6152674" cy="117634"/>
            <a:chOff x="0" y="0"/>
            <a:chExt cx="8203565" cy="15684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03565" cy="156845"/>
            </a:xfrm>
            <a:custGeom>
              <a:avLst/>
              <a:gdLst/>
              <a:ahLst/>
              <a:cxnLst/>
              <a:rect r="r" b="b" t="t" l="l"/>
              <a:pathLst>
                <a:path h="156845" w="8203565">
                  <a:moveTo>
                    <a:pt x="0" y="0"/>
                  </a:moveTo>
                  <a:lnTo>
                    <a:pt x="8203565" y="0"/>
                  </a:lnTo>
                  <a:lnTo>
                    <a:pt x="8203565" y="156845"/>
                  </a:lnTo>
                  <a:lnTo>
                    <a:pt x="0" y="156845"/>
                  </a:lnTo>
                  <a:close/>
                </a:path>
              </a:pathLst>
            </a:custGeom>
            <a:solidFill>
              <a:srgbClr val="5B3BA8"/>
            </a:solidFill>
            <a:ln w="25400" cap="sq">
              <a:solidFill>
                <a:srgbClr val="5B3BA8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14400" y="9729216"/>
            <a:ext cx="10058400" cy="548640"/>
            <a:chOff x="0" y="0"/>
            <a:chExt cx="1341120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411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06977" r="0" b="-30697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14400" y="9700641"/>
            <a:ext cx="10058400" cy="577215"/>
            <a:chOff x="0" y="0"/>
            <a:chExt cx="13411200" cy="76962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3411200" cy="769620"/>
            </a:xfrm>
            <a:custGeom>
              <a:avLst/>
              <a:gdLst/>
              <a:ahLst/>
              <a:cxnLst/>
              <a:rect r="r" b="b" t="t" l="l"/>
              <a:pathLst>
                <a:path h="7696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89541" r="0" b="-289541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1341120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b="true" sz="1700" spc="400">
                  <a:solidFill>
                    <a:srgbClr val="2E1B5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QISKIT FALL FEST 2026  ·  HOSTED BY VTU, BELAGAVI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887200" y="9729216"/>
            <a:ext cx="4389120" cy="548640"/>
            <a:chOff x="0" y="0"/>
            <a:chExt cx="5852160" cy="731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5772" r="0" b="-10577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9700641"/>
            <a:ext cx="4389120" cy="577215"/>
            <a:chOff x="0" y="0"/>
            <a:chExt cx="5852160" cy="7696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69620"/>
            </a:xfrm>
            <a:custGeom>
              <a:avLst/>
              <a:gdLst/>
              <a:ahLst/>
              <a:cxnLst/>
              <a:rect r="r" b="b" t="t" l="l"/>
              <a:pathLst>
                <a:path h="7696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9620"/>
                  </a:lnTo>
                  <a:lnTo>
                    <a:pt x="0" y="76962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8163" r="0" b="-9816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5852160" cy="8077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040"/>
                </a:lnSpc>
              </a:pPr>
              <a:r>
                <a:rPr lang="en-US" b="true" sz="1700" spc="400">
                  <a:solidFill>
                    <a:srgbClr val="5B3BA8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27 – 31 OCT 2026</a:t>
              </a: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914400" y="1752600"/>
            <a:ext cx="54864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600">
                <a:solidFill>
                  <a:srgbClr val="E8639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CLOSING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14400" y="2377440"/>
            <a:ext cx="9509760" cy="3108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2E1B5B"/>
                </a:solidFill>
                <a:latin typeface="Georgia Bold"/>
                <a:ea typeface="Georgia Bold"/>
                <a:cs typeface="Georgia Bold"/>
                <a:sym typeface="Georgia Bold"/>
              </a:rPr>
              <a:t>Thank You</a:t>
            </a:r>
          </a:p>
          <a:p>
            <a:pPr algn="l">
              <a:lnSpc>
                <a:spcPts val="10080"/>
              </a:lnSpc>
            </a:pPr>
            <a:r>
              <a:rPr lang="en-US" sz="8400" b="true">
                <a:solidFill>
                  <a:srgbClr val="E8639F"/>
                </a:solidFill>
                <a:latin typeface="Georgia Bold"/>
                <a:ea typeface="Georgia Bold"/>
                <a:cs typeface="Georgia Bold"/>
                <a:sym typeface="Georgia Bold"/>
              </a:rPr>
              <a:t>Questions?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897731" y="6567011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955672" y="6558277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GITHUB REPOSITORY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github.com/your-team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5652611" y="6567011"/>
            <a:ext cx="4605338" cy="1094137"/>
          </a:xfrm>
          <a:custGeom>
            <a:avLst/>
            <a:gdLst/>
            <a:ahLst/>
            <a:cxnLst/>
            <a:rect r="r" b="b" t="t" l="l"/>
            <a:pathLst>
              <a:path h="1094137" w="4605338">
                <a:moveTo>
                  <a:pt x="0" y="0"/>
                </a:moveTo>
                <a:lnTo>
                  <a:pt x="4605338" y="0"/>
                </a:lnTo>
                <a:lnTo>
                  <a:pt x="4605338" y="1094137"/>
                </a:lnTo>
                <a:lnTo>
                  <a:pt x="0" y="109413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5710552" y="6558277"/>
            <a:ext cx="4489447" cy="104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199">
                <a:solidFill>
                  <a:srgbClr val="5B3BA8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DEMO VIDEO LINK</a:t>
            </a:r>
          </a:p>
          <a:p>
            <a:pPr algn="l">
              <a:lnSpc>
                <a:spcPts val="2878"/>
              </a:lnSpc>
            </a:pPr>
            <a:r>
              <a:rPr lang="en-US" sz="2400" i="true" spc="265">
                <a:solidFill>
                  <a:srgbClr val="6F7399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Paste link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0972800" y="2194560"/>
            <a:ext cx="6400800" cy="6400800"/>
            <a:chOff x="0" y="0"/>
            <a:chExt cx="8534400" cy="8534400"/>
          </a:xfrm>
        </p:grpSpPr>
        <p:sp>
          <p:nvSpPr>
            <p:cNvPr name="Freeform 57" id="57" descr="sphere.png"/>
            <p:cNvSpPr/>
            <p:nvPr/>
          </p:nvSpPr>
          <p:spPr>
            <a:xfrm flipH="false" flipV="false" rot="0">
              <a:off x="0" y="0"/>
              <a:ext cx="8534400" cy="8534400"/>
            </a:xfrm>
            <a:custGeom>
              <a:avLst/>
              <a:gdLst/>
              <a:ahLst/>
              <a:cxnLst/>
              <a:rect r="r" b="b" t="t" l="l"/>
              <a:pathLst>
                <a:path h="853440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8534400"/>
                  </a:lnTo>
                  <a:lnTo>
                    <a:pt x="0" y="853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058400" y="1828800"/>
            <a:ext cx="1645920" cy="987552"/>
            <a:chOff x="0" y="0"/>
            <a:chExt cx="2194560" cy="1316736"/>
          </a:xfrm>
        </p:grpSpPr>
        <p:sp>
          <p:nvSpPr>
            <p:cNvPr name="Freeform 59" id="59" descr="bird1.png"/>
            <p:cNvSpPr/>
            <p:nvPr/>
          </p:nvSpPr>
          <p:spPr>
            <a:xfrm flipH="false" flipV="false" rot="0">
              <a:off x="0" y="0"/>
              <a:ext cx="2194560" cy="1316736"/>
            </a:xfrm>
            <a:custGeom>
              <a:avLst/>
              <a:gdLst/>
              <a:ahLst/>
              <a:cxnLst/>
              <a:rect r="r" b="b" t="t" l="l"/>
              <a:pathLst>
                <a:path h="1316736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1316736"/>
                  </a:lnTo>
                  <a:lnTo>
                    <a:pt x="0" y="1316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9509760" y="7680960"/>
            <a:ext cx="1097280" cy="658368"/>
            <a:chOff x="0" y="0"/>
            <a:chExt cx="1463040" cy="877824"/>
          </a:xfrm>
        </p:grpSpPr>
        <p:sp>
          <p:nvSpPr>
            <p:cNvPr name="Freeform 61" id="61" descr="bird2.png"/>
            <p:cNvSpPr/>
            <p:nvPr/>
          </p:nvSpPr>
          <p:spPr>
            <a:xfrm flipH="false" flipV="false" rot="0">
              <a:off x="0" y="0"/>
              <a:ext cx="1463040" cy="877824"/>
            </a:xfrm>
            <a:custGeom>
              <a:avLst/>
              <a:gdLst/>
              <a:ahLst/>
              <a:cxnLst/>
              <a:rect r="r" b="b" t="t" l="l"/>
              <a:pathLst>
                <a:path h="87782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877824"/>
                  </a:lnTo>
                  <a:lnTo>
                    <a:pt x="0" y="8778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6459200" y="8046720"/>
            <a:ext cx="914400" cy="548640"/>
            <a:chOff x="0" y="0"/>
            <a:chExt cx="1219200" cy="731520"/>
          </a:xfrm>
        </p:grpSpPr>
        <p:sp>
          <p:nvSpPr>
            <p:cNvPr name="Freeform 63" id="63" descr="bird3.png"/>
            <p:cNvSpPr/>
            <p:nvPr/>
          </p:nvSpPr>
          <p:spPr>
            <a:xfrm flipH="false" flipV="false" rot="0">
              <a:off x="0" y="0"/>
              <a:ext cx="12192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731520"/>
                  </a:lnTo>
                  <a:lnTo>
                    <a:pt x="0" y="7315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798260" y="5310626"/>
            <a:ext cx="7723948" cy="443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959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QORVEX — Security at the Quantum Edge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932688" y="6583680"/>
            <a:ext cx="9308592" cy="1810512"/>
            <a:chOff x="0" y="0"/>
            <a:chExt cx="12411456" cy="241401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2411456" cy="2414016"/>
            </a:xfrm>
            <a:custGeom>
              <a:avLst/>
              <a:gdLst/>
              <a:ahLst/>
              <a:cxnLst/>
              <a:rect r="r" b="b" t="t" l="l"/>
              <a:pathLst>
                <a:path h="2414016" w="12411456">
                  <a:moveTo>
                    <a:pt x="0" y="0"/>
                  </a:moveTo>
                  <a:lnTo>
                    <a:pt x="12411456" y="0"/>
                  </a:lnTo>
                  <a:lnTo>
                    <a:pt x="12411456" y="2414016"/>
                  </a:lnTo>
                  <a:lnTo>
                    <a:pt x="0" y="24140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1243584" y="6748272"/>
            <a:ext cx="8577072" cy="429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77C78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LIVE DEMO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43584" y="7214235"/>
            <a:ext cx="857707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17252F"/>
                </a:solidFill>
                <a:latin typeface="Inter Bold"/>
                <a:ea typeface="Inter Bold"/>
                <a:cs typeface="Inter Bold"/>
                <a:sym typeface="Inter Bold"/>
              </a:rPr>
              <a:t>https://qorvex07.vercel.app/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61872" y="7891272"/>
            <a:ext cx="8348472" cy="292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40525D"/>
                </a:solidFill>
                <a:latin typeface="Inter"/>
                <a:ea typeface="Inter"/>
                <a:cs typeface="Inter"/>
                <a:sym typeface="Inter"/>
              </a:rPr>
              <a:t>Repository / team links: add before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DAHYwmQYSRA</dc:identifier>
  <dcterms:modified xsi:type="dcterms:W3CDTF">2011-08-01T06:04:30Z</dcterms:modified>
  <cp:revision>1</cp:revision>
  <dc:title>QORVEX — VTU Qiskit Fall Fest 2026 Final Presentation</dc:title>
</cp:coreProperties>
</file>